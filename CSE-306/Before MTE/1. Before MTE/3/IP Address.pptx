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2"/>
    <p:sldId id="275" r:id="rId3"/>
    <p:sldId id="256" r:id="rId4"/>
    <p:sldId id="257" r:id="rId5"/>
    <p:sldId id="258" r:id="rId6"/>
    <p:sldId id="273" r:id="rId7"/>
    <p:sldId id="276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990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66712" y="108013"/>
            <a:ext cx="382905" cy="474980"/>
          </a:xfrm>
          <a:custGeom>
            <a:avLst/>
            <a:gdLst/>
            <a:ahLst/>
            <a:cxnLst/>
            <a:rect l="l" t="t" r="r" b="b"/>
            <a:pathLst>
              <a:path w="382905" h="474980">
                <a:moveTo>
                  <a:pt x="382587" y="0"/>
                </a:moveTo>
                <a:lnTo>
                  <a:pt x="0" y="0"/>
                </a:lnTo>
                <a:lnTo>
                  <a:pt x="0" y="349186"/>
                </a:lnTo>
                <a:lnTo>
                  <a:pt x="0" y="474662"/>
                </a:lnTo>
                <a:lnTo>
                  <a:pt x="382587" y="474662"/>
                </a:lnTo>
                <a:lnTo>
                  <a:pt x="382587" y="349186"/>
                </a:lnTo>
                <a:lnTo>
                  <a:pt x="382587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9300" y="108013"/>
            <a:ext cx="328612" cy="47466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90537" y="530288"/>
            <a:ext cx="370205" cy="474980"/>
          </a:xfrm>
          <a:custGeom>
            <a:avLst/>
            <a:gdLst/>
            <a:ahLst/>
            <a:cxnLst/>
            <a:rect l="l" t="t" r="r" b="b"/>
            <a:pathLst>
              <a:path w="370205" h="474980">
                <a:moveTo>
                  <a:pt x="369887" y="0"/>
                </a:moveTo>
                <a:lnTo>
                  <a:pt x="0" y="0"/>
                </a:lnTo>
                <a:lnTo>
                  <a:pt x="0" y="349186"/>
                </a:lnTo>
                <a:lnTo>
                  <a:pt x="0" y="474662"/>
                </a:lnTo>
                <a:lnTo>
                  <a:pt x="369887" y="474662"/>
                </a:lnTo>
                <a:lnTo>
                  <a:pt x="369887" y="349186"/>
                </a:lnTo>
                <a:lnTo>
                  <a:pt x="369887" y="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0425" y="530288"/>
            <a:ext cx="368300" cy="47466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200" y="457199"/>
            <a:ext cx="560387" cy="42227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11200" y="63"/>
            <a:ext cx="31750" cy="1052830"/>
          </a:xfrm>
          <a:custGeom>
            <a:avLst/>
            <a:gdLst/>
            <a:ahLst/>
            <a:cxnLst/>
            <a:rect l="l" t="t" r="r" b="b"/>
            <a:pathLst>
              <a:path w="31750" h="1052830">
                <a:moveTo>
                  <a:pt x="31750" y="565086"/>
                </a:moveTo>
                <a:lnTo>
                  <a:pt x="0" y="565086"/>
                </a:lnTo>
                <a:lnTo>
                  <a:pt x="0" y="1052512"/>
                </a:lnTo>
                <a:lnTo>
                  <a:pt x="31750" y="1052512"/>
                </a:lnTo>
                <a:lnTo>
                  <a:pt x="31750" y="565086"/>
                </a:lnTo>
                <a:close/>
              </a:path>
              <a:path w="31750" h="1052830">
                <a:moveTo>
                  <a:pt x="31750" y="0"/>
                </a:moveTo>
                <a:lnTo>
                  <a:pt x="0" y="0"/>
                </a:lnTo>
                <a:lnTo>
                  <a:pt x="0" y="533336"/>
                </a:lnTo>
                <a:lnTo>
                  <a:pt x="31750" y="533336"/>
                </a:lnTo>
                <a:lnTo>
                  <a:pt x="3175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2912" y="533399"/>
            <a:ext cx="8226425" cy="31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1164081"/>
            <a:ext cx="8529319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590802"/>
            <a:ext cx="6424295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5940" y="6464909"/>
            <a:ext cx="40005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0339BC1-F1EA-D96E-99E5-1A4EC9941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8355724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666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929FE-CFEB-9B57-6721-9D53369D6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668529"/>
            <a:ext cx="7924800" cy="1723549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 address is an address having information about how to reach a specific host, especially outside the LAN. An IP address is a 32 bit unique address having an address space of 2</a:t>
            </a:r>
            <a:r>
              <a:rPr lang="en-US" b="0" i="0" baseline="3000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63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31242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8787" y="38862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300" y="3216338"/>
            <a:ext cx="8077200" cy="57975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11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latin typeface="Calibri"/>
                <a:cs typeface="Calibri"/>
              </a:rPr>
              <a:t>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IPv4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address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32 </a:t>
            </a:r>
            <a:r>
              <a:rPr sz="1800" spc="-5" dirty="0">
                <a:latin typeface="Calibri"/>
                <a:cs typeface="Calibri"/>
              </a:rPr>
              <a:t>bits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long.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438336"/>
            <a:ext cx="1143000" cy="5667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9442" y="2459862"/>
            <a:ext cx="696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FF"/>
                </a:solidFill>
              </a:rPr>
              <a:t>Note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8787" y="38862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1115" rIns="0" bIns="0" rtlCol="0">
            <a:spAutoFit/>
          </a:bodyPr>
          <a:lstStyle/>
          <a:p>
            <a:pPr marL="3390265" marR="2624455" indent="-760730">
              <a:lnSpc>
                <a:spcPct val="100000"/>
              </a:lnSpc>
              <a:spcBef>
                <a:spcPts val="245"/>
              </a:spcBef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IPv4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addresses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unique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universal.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9442" y="2002358"/>
            <a:ext cx="697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FF"/>
                </a:solidFill>
              </a:rPr>
              <a:t>Note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8787" y="2759075"/>
            <a:ext cx="8154034" cy="1165225"/>
            <a:chOff x="458787" y="2759075"/>
            <a:chExt cx="8154034" cy="1165225"/>
          </a:xfrm>
        </p:grpSpPr>
        <p:sp>
          <p:nvSpPr>
            <p:cNvPr id="4" name="object 4"/>
            <p:cNvSpPr/>
            <p:nvPr/>
          </p:nvSpPr>
          <p:spPr>
            <a:xfrm>
              <a:off x="458787" y="3886200"/>
              <a:ext cx="8154034" cy="0"/>
            </a:xfrm>
            <a:custGeom>
              <a:avLst/>
              <a:gdLst/>
              <a:ahLst/>
              <a:cxnLst/>
              <a:rect l="l" t="t" r="r" b="b"/>
              <a:pathLst>
                <a:path w="8154034">
                  <a:moveTo>
                    <a:pt x="0" y="0"/>
                  </a:moveTo>
                  <a:lnTo>
                    <a:pt x="8153463" y="0"/>
                  </a:lnTo>
                </a:path>
              </a:pathLst>
            </a:custGeom>
            <a:ln w="76200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5300" y="2759075"/>
              <a:ext cx="8077200" cy="1066800"/>
            </a:xfrm>
            <a:custGeom>
              <a:avLst/>
              <a:gdLst/>
              <a:ahLst/>
              <a:cxnLst/>
              <a:rect l="l" t="t" r="r" b="b"/>
              <a:pathLst>
                <a:path w="8077200" h="1066800">
                  <a:moveTo>
                    <a:pt x="80772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8077200" y="106680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42817" y="2777490"/>
            <a:ext cx="2592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address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IPv4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6497" y="2983229"/>
            <a:ext cx="335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700" spc="-7" baseline="-16975" dirty="0">
                <a:latin typeface="Calibri"/>
                <a:cs typeface="Calibri"/>
              </a:rPr>
              <a:t>2</a:t>
            </a:r>
            <a:r>
              <a:rPr sz="1200" spc="-5" dirty="0"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76802" y="3051809"/>
            <a:ext cx="1702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3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4,294,967,296.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69442" y="2002358"/>
            <a:ext cx="697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FF"/>
                </a:solidFill>
              </a:rPr>
              <a:t>Note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mbeddedGeeKs - Network / IP Classes">
            <a:extLst>
              <a:ext uri="{FF2B5EF4-FFF2-40B4-BE49-F238E27FC236}">
                <a16:creationId xmlns:a16="http://schemas.microsoft.com/office/drawing/2014/main" id="{1407D3D5-3F8F-2CFC-F0B9-0EAC993DD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47775"/>
            <a:ext cx="7046092" cy="436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981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ED5BA-A6CC-8915-FBF3-C95DD104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1164081"/>
            <a:ext cx="7239000" cy="2154436"/>
          </a:xfrm>
        </p:spPr>
        <p:txBody>
          <a:bodyPr/>
          <a:lstStyle/>
          <a:p>
            <a:pPr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IPv4 address is divided into two parts</a:t>
            </a:r>
            <a:br>
              <a:rPr lang="en-US" b="0" i="0" dirty="0">
                <a:solidFill>
                  <a:srgbClr val="273239"/>
                </a:solidFill>
                <a:effectLst/>
                <a:latin typeface="urw-din"/>
              </a:rPr>
            </a:br>
            <a:br>
              <a:rPr lang="en-US" b="0" i="0" dirty="0">
                <a:solidFill>
                  <a:srgbClr val="273239"/>
                </a:solidFill>
                <a:effectLst/>
                <a:latin typeface="urw-din"/>
              </a:rPr>
            </a:b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Network ID</a:t>
            </a:r>
            <a:br>
              <a:rPr lang="en-US" b="0" i="0" dirty="0">
                <a:solidFill>
                  <a:srgbClr val="273239"/>
                </a:solidFill>
                <a:effectLst/>
                <a:latin typeface="urw-din"/>
              </a:rPr>
            </a:b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Host ID</a:t>
            </a:r>
            <a:br>
              <a:rPr lang="en-US" b="0" i="0" dirty="0">
                <a:solidFill>
                  <a:srgbClr val="273239"/>
                </a:solidFill>
                <a:effectLst/>
                <a:latin typeface="urw-din"/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86F5E-D073-D4BA-4C4C-DFE8CA0D6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124200"/>
            <a:ext cx="6324600" cy="331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70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403352"/>
            <a:ext cx="821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8450" algn="l"/>
              </a:tabLst>
            </a:pPr>
            <a:r>
              <a:rPr sz="2400" i="0" spc="-5" dirty="0">
                <a:solidFill>
                  <a:srgbClr val="800080"/>
                </a:solidFill>
                <a:latin typeface="Times New Roman"/>
                <a:cs typeface="Times New Roman"/>
              </a:rPr>
              <a:t>Figure</a:t>
            </a:r>
            <a:r>
              <a:rPr sz="2400" i="0" spc="-10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400" i="0" spc="-5" dirty="0">
                <a:solidFill>
                  <a:srgbClr val="800080"/>
                </a:solidFill>
                <a:latin typeface="Times New Roman"/>
                <a:cs typeface="Times New Roman"/>
              </a:rPr>
              <a:t>19.1	</a:t>
            </a:r>
            <a:r>
              <a:rPr sz="2000" dirty="0"/>
              <a:t>Dotted-decimal</a:t>
            </a:r>
            <a:r>
              <a:rPr sz="2000" spc="-55" dirty="0"/>
              <a:t> </a:t>
            </a:r>
            <a:r>
              <a:rPr sz="2000" dirty="0"/>
              <a:t>notation</a:t>
            </a:r>
            <a:r>
              <a:rPr sz="2000" spc="-35" dirty="0"/>
              <a:t> </a:t>
            </a:r>
            <a:r>
              <a:rPr sz="2000" spc="5" dirty="0"/>
              <a:t>and</a:t>
            </a:r>
            <a:r>
              <a:rPr sz="2000" spc="-30" dirty="0"/>
              <a:t> </a:t>
            </a:r>
            <a:r>
              <a:rPr sz="2000" dirty="0"/>
              <a:t>binary</a:t>
            </a:r>
            <a:r>
              <a:rPr sz="2000" spc="-25" dirty="0"/>
              <a:t> </a:t>
            </a:r>
            <a:r>
              <a:rPr sz="2000" dirty="0"/>
              <a:t>notation</a:t>
            </a:r>
            <a:r>
              <a:rPr sz="2000" spc="-50" dirty="0"/>
              <a:t> </a:t>
            </a:r>
            <a:r>
              <a:rPr sz="2000" dirty="0"/>
              <a:t>for</a:t>
            </a:r>
            <a:r>
              <a:rPr sz="2000" spc="-10" dirty="0"/>
              <a:t> </a:t>
            </a:r>
            <a:r>
              <a:rPr sz="2000" dirty="0"/>
              <a:t>an</a:t>
            </a:r>
            <a:r>
              <a:rPr sz="2000" spc="-5" dirty="0"/>
              <a:t> </a:t>
            </a:r>
            <a:r>
              <a:rPr sz="2000" dirty="0"/>
              <a:t>IPv4</a:t>
            </a:r>
            <a:r>
              <a:rPr sz="2000" spc="-15" dirty="0"/>
              <a:t> </a:t>
            </a:r>
            <a:r>
              <a:rPr sz="2000" spc="-10" dirty="0"/>
              <a:t>address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125" y="2533650"/>
            <a:ext cx="7650099" cy="17907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Change</a:t>
            </a:r>
            <a:r>
              <a:rPr spc="195" dirty="0"/>
              <a:t> </a:t>
            </a:r>
            <a:r>
              <a:rPr spc="-5" dirty="0"/>
              <a:t>the</a:t>
            </a:r>
            <a:r>
              <a:rPr spc="185" dirty="0"/>
              <a:t> </a:t>
            </a:r>
            <a:r>
              <a:rPr spc="-5" dirty="0"/>
              <a:t>following</a:t>
            </a:r>
            <a:r>
              <a:rPr spc="210" dirty="0"/>
              <a:t> </a:t>
            </a:r>
            <a:r>
              <a:rPr spc="-5" dirty="0"/>
              <a:t>IPv4</a:t>
            </a:r>
            <a:r>
              <a:rPr spc="200" dirty="0"/>
              <a:t> </a:t>
            </a:r>
            <a:r>
              <a:rPr spc="-15" dirty="0"/>
              <a:t>addresses</a:t>
            </a:r>
            <a:r>
              <a:rPr spc="200" dirty="0"/>
              <a:t> </a:t>
            </a:r>
            <a:r>
              <a:rPr spc="-35" dirty="0"/>
              <a:t>from</a:t>
            </a:r>
            <a:r>
              <a:rPr spc="185" dirty="0"/>
              <a:t> </a:t>
            </a:r>
            <a:r>
              <a:rPr spc="-5" dirty="0"/>
              <a:t>binary</a:t>
            </a:r>
            <a:r>
              <a:rPr spc="200" dirty="0"/>
              <a:t> </a:t>
            </a:r>
            <a:r>
              <a:rPr spc="-5" dirty="0"/>
              <a:t>notation </a:t>
            </a:r>
            <a:r>
              <a:rPr spc="-685" dirty="0"/>
              <a:t> </a:t>
            </a:r>
            <a:r>
              <a:rPr spc="-5" dirty="0"/>
              <a:t>to</a:t>
            </a:r>
            <a:r>
              <a:rPr spc="-15" dirty="0"/>
              <a:t> </a:t>
            </a:r>
            <a:r>
              <a:rPr spc="-5" dirty="0"/>
              <a:t>dotted-decimal</a:t>
            </a:r>
            <a:r>
              <a:rPr spc="-25" dirty="0"/>
              <a:t> </a:t>
            </a:r>
            <a:r>
              <a:rPr dirty="0"/>
              <a:t>notation.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25400"/>
            <a:ext cx="1280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0000FF"/>
                </a:solidFill>
                <a:latin typeface="Times New Roman"/>
                <a:cs typeface="Times New Roman"/>
              </a:rPr>
              <a:t>Example</a:t>
            </a:r>
            <a:r>
              <a:rPr sz="1800" i="1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00FF"/>
                </a:solidFill>
                <a:latin typeface="Times New Roman"/>
                <a:cs typeface="Times New Roman"/>
              </a:rPr>
              <a:t>19.1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051" y="2381033"/>
            <a:ext cx="7229967" cy="8086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7340" y="3602812"/>
            <a:ext cx="852868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dirty="0">
                <a:solidFill>
                  <a:srgbClr val="0000FF"/>
                </a:solidFill>
                <a:latin typeface="Times New Roman"/>
                <a:cs typeface="Times New Roman"/>
              </a:rPr>
              <a:t>Solution</a:t>
            </a: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800" i="1" spc="-135" dirty="0">
                <a:latin typeface="Times New Roman"/>
                <a:cs typeface="Times New Roman"/>
              </a:rPr>
              <a:t>We</a:t>
            </a:r>
            <a:r>
              <a:rPr sz="2800" i="1" spc="85" dirty="0">
                <a:latin typeface="Times New Roman"/>
                <a:cs typeface="Times New Roman"/>
              </a:rPr>
              <a:t> </a:t>
            </a:r>
            <a:r>
              <a:rPr sz="2800" i="1" spc="-20" dirty="0">
                <a:latin typeface="Times New Roman"/>
                <a:cs typeface="Times New Roman"/>
              </a:rPr>
              <a:t>replace</a:t>
            </a:r>
            <a:r>
              <a:rPr sz="2800" i="1" spc="9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each</a:t>
            </a:r>
            <a:r>
              <a:rPr sz="2800" i="1" spc="90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group</a:t>
            </a:r>
            <a:r>
              <a:rPr sz="2800" i="1" spc="10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of</a:t>
            </a:r>
            <a:r>
              <a:rPr sz="2800" i="1" spc="10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8</a:t>
            </a:r>
            <a:r>
              <a:rPr sz="2800" i="1" spc="9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bits</a:t>
            </a:r>
            <a:r>
              <a:rPr sz="2800" i="1" spc="10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with</a:t>
            </a:r>
            <a:r>
              <a:rPr sz="2800" i="1" spc="10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its</a:t>
            </a:r>
            <a:r>
              <a:rPr sz="2800" i="1" spc="9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equivalent</a:t>
            </a:r>
            <a:r>
              <a:rPr sz="2800" i="1" spc="9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decimal </a:t>
            </a:r>
            <a:r>
              <a:rPr sz="2800" i="1" spc="-68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number</a:t>
            </a:r>
            <a:r>
              <a:rPr sz="2800" i="1" spc="-10" dirty="0">
                <a:latin typeface="Times New Roman"/>
                <a:cs typeface="Times New Roman"/>
              </a:rPr>
              <a:t> (see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Appendix B)</a:t>
            </a:r>
            <a:r>
              <a:rPr sz="2800" i="1" spc="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and</a:t>
            </a:r>
            <a:r>
              <a:rPr sz="2800" i="1" spc="-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add</a:t>
            </a:r>
            <a:r>
              <a:rPr sz="2800" i="1" spc="-1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dots</a:t>
            </a:r>
            <a:r>
              <a:rPr sz="2800" i="1" spc="-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for</a:t>
            </a:r>
            <a:r>
              <a:rPr sz="2800" i="1" spc="-1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separation.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121310-7B3B-118F-E190-91C93FB3D5E3}"/>
              </a:ext>
            </a:extLst>
          </p:cNvPr>
          <p:cNvSpPr txBox="1"/>
          <p:nvPr/>
        </p:nvSpPr>
        <p:spPr>
          <a:xfrm>
            <a:off x="3305680" y="5209587"/>
            <a:ext cx="14907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????</a:t>
            </a:r>
          </a:p>
          <a:p>
            <a:pPr marL="342900" indent="-342900">
              <a:buAutoNum type="alphaL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????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000"/>
    </mc:Choice>
    <mc:Fallback>
      <p:transition spd="slow" advTm="17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Change</a:t>
            </a:r>
            <a:r>
              <a:rPr spc="320" dirty="0"/>
              <a:t> </a:t>
            </a:r>
            <a:r>
              <a:rPr spc="-5" dirty="0"/>
              <a:t>the</a:t>
            </a:r>
            <a:r>
              <a:rPr spc="305" dirty="0"/>
              <a:t> </a:t>
            </a:r>
            <a:r>
              <a:rPr spc="-5" dirty="0"/>
              <a:t>following</a:t>
            </a:r>
            <a:r>
              <a:rPr spc="325" dirty="0"/>
              <a:t> </a:t>
            </a:r>
            <a:r>
              <a:rPr spc="-5" dirty="0"/>
              <a:t>IPv4</a:t>
            </a:r>
            <a:r>
              <a:rPr spc="340" dirty="0"/>
              <a:t> </a:t>
            </a:r>
            <a:r>
              <a:rPr spc="-15" dirty="0"/>
              <a:t>addresses</a:t>
            </a:r>
            <a:r>
              <a:rPr spc="325" dirty="0"/>
              <a:t> </a:t>
            </a:r>
            <a:r>
              <a:rPr spc="-35" dirty="0"/>
              <a:t>from</a:t>
            </a:r>
            <a:r>
              <a:rPr spc="320" dirty="0"/>
              <a:t> </a:t>
            </a:r>
            <a:r>
              <a:rPr spc="-5" dirty="0"/>
              <a:t>dotted-decimal </a:t>
            </a:r>
            <a:r>
              <a:rPr spc="-685" dirty="0"/>
              <a:t> </a:t>
            </a:r>
            <a:r>
              <a:rPr dirty="0"/>
              <a:t>notation</a:t>
            </a:r>
            <a:r>
              <a:rPr spc="-40" dirty="0"/>
              <a:t> </a:t>
            </a:r>
            <a:r>
              <a:rPr spc="-5" dirty="0"/>
              <a:t>to</a:t>
            </a:r>
            <a:r>
              <a:rPr dirty="0"/>
              <a:t> </a:t>
            </a:r>
            <a:r>
              <a:rPr spc="-5" dirty="0"/>
              <a:t>binary</a:t>
            </a:r>
            <a:r>
              <a:rPr spc="-10" dirty="0"/>
              <a:t> </a:t>
            </a:r>
            <a:r>
              <a:rPr dirty="0"/>
              <a:t>notation.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25400"/>
            <a:ext cx="1280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0000FF"/>
                </a:solidFill>
                <a:latin typeface="Times New Roman"/>
                <a:cs typeface="Times New Roman"/>
              </a:rPr>
              <a:t>Example</a:t>
            </a:r>
            <a:r>
              <a:rPr sz="1800" i="1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00FF"/>
                </a:solidFill>
                <a:latin typeface="Times New Roman"/>
                <a:cs typeface="Times New Roman"/>
              </a:rPr>
              <a:t>19.2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903" y="2222323"/>
            <a:ext cx="2423340" cy="8074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7340" y="3298063"/>
            <a:ext cx="852932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dirty="0">
                <a:solidFill>
                  <a:srgbClr val="0000FF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800" i="1" spc="-130" dirty="0">
                <a:latin typeface="Times New Roman"/>
                <a:cs typeface="Times New Roman"/>
              </a:rPr>
              <a:t>We</a:t>
            </a:r>
            <a:r>
              <a:rPr sz="2800" i="1" spc="75" dirty="0">
                <a:latin typeface="Times New Roman"/>
                <a:cs typeface="Times New Roman"/>
              </a:rPr>
              <a:t> </a:t>
            </a:r>
            <a:r>
              <a:rPr sz="2800" i="1" spc="-20" dirty="0">
                <a:latin typeface="Times New Roman"/>
                <a:cs typeface="Times New Roman"/>
              </a:rPr>
              <a:t>replace</a:t>
            </a:r>
            <a:r>
              <a:rPr sz="2800" i="1" spc="7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each</a:t>
            </a:r>
            <a:r>
              <a:rPr sz="2800" i="1" spc="8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decimal</a:t>
            </a:r>
            <a:r>
              <a:rPr sz="2800" i="1" spc="9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number</a:t>
            </a:r>
            <a:r>
              <a:rPr sz="2800" i="1" spc="9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with</a:t>
            </a:r>
            <a:r>
              <a:rPr sz="2800" i="1" spc="9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its</a:t>
            </a:r>
            <a:r>
              <a:rPr sz="2800" i="1" spc="7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binary</a:t>
            </a:r>
            <a:r>
              <a:rPr sz="2800" i="1" spc="8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equivalent </a:t>
            </a:r>
            <a:r>
              <a:rPr sz="2800" i="1" spc="-68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(see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Appendix B).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144" y="4890166"/>
            <a:ext cx="7062914" cy="80183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839200" cy="1510030"/>
            <a:chOff x="76200" y="63"/>
            <a:chExt cx="8839200" cy="1510030"/>
          </a:xfrm>
        </p:grpSpPr>
        <p:sp>
          <p:nvSpPr>
            <p:cNvPr id="3" name="object 3"/>
            <p:cNvSpPr/>
            <p:nvPr/>
          </p:nvSpPr>
          <p:spPr>
            <a:xfrm>
              <a:off x="366712" y="108013"/>
              <a:ext cx="382905" cy="474980"/>
            </a:xfrm>
            <a:custGeom>
              <a:avLst/>
              <a:gdLst/>
              <a:ahLst/>
              <a:cxnLst/>
              <a:rect l="l" t="t" r="r" b="b"/>
              <a:pathLst>
                <a:path w="382905" h="474980">
                  <a:moveTo>
                    <a:pt x="382587" y="0"/>
                  </a:moveTo>
                  <a:lnTo>
                    <a:pt x="0" y="0"/>
                  </a:lnTo>
                  <a:lnTo>
                    <a:pt x="0" y="349186"/>
                  </a:lnTo>
                  <a:lnTo>
                    <a:pt x="0" y="474662"/>
                  </a:lnTo>
                  <a:lnTo>
                    <a:pt x="382587" y="474662"/>
                  </a:lnTo>
                  <a:lnTo>
                    <a:pt x="382587" y="349186"/>
                  </a:lnTo>
                  <a:lnTo>
                    <a:pt x="38258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300" y="108013"/>
              <a:ext cx="328612" cy="4746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0537" y="530288"/>
              <a:ext cx="370205" cy="460375"/>
            </a:xfrm>
            <a:custGeom>
              <a:avLst/>
              <a:gdLst/>
              <a:ahLst/>
              <a:cxnLst/>
              <a:rect l="l" t="t" r="r" b="b"/>
              <a:pathLst>
                <a:path w="370205" h="460375">
                  <a:moveTo>
                    <a:pt x="369887" y="0"/>
                  </a:moveTo>
                  <a:lnTo>
                    <a:pt x="0" y="0"/>
                  </a:lnTo>
                  <a:lnTo>
                    <a:pt x="0" y="349186"/>
                  </a:lnTo>
                  <a:lnTo>
                    <a:pt x="0" y="460375"/>
                  </a:lnTo>
                  <a:lnTo>
                    <a:pt x="369887" y="460375"/>
                  </a:lnTo>
                  <a:lnTo>
                    <a:pt x="369887" y="349186"/>
                  </a:lnTo>
                  <a:lnTo>
                    <a:pt x="369887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425" y="530288"/>
              <a:ext cx="368300" cy="4746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457199"/>
              <a:ext cx="560387" cy="4222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1200" y="63"/>
              <a:ext cx="31750" cy="990600"/>
            </a:xfrm>
            <a:custGeom>
              <a:avLst/>
              <a:gdLst/>
              <a:ahLst/>
              <a:cxnLst/>
              <a:rect l="l" t="t" r="r" b="b"/>
              <a:pathLst>
                <a:path w="31750" h="990600">
                  <a:moveTo>
                    <a:pt x="31750" y="565086"/>
                  </a:moveTo>
                  <a:lnTo>
                    <a:pt x="0" y="565086"/>
                  </a:lnTo>
                  <a:lnTo>
                    <a:pt x="0" y="990600"/>
                  </a:lnTo>
                  <a:lnTo>
                    <a:pt x="31750" y="990600"/>
                  </a:lnTo>
                  <a:lnTo>
                    <a:pt x="31750" y="565086"/>
                  </a:lnTo>
                  <a:close/>
                </a:path>
                <a:path w="31750" h="99060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8600" y="990663"/>
              <a:ext cx="8686800" cy="519430"/>
            </a:xfrm>
            <a:custGeom>
              <a:avLst/>
              <a:gdLst/>
              <a:ahLst/>
              <a:cxnLst/>
              <a:rect l="l" t="t" r="r" b="b"/>
              <a:pathLst>
                <a:path w="8686800" h="519430">
                  <a:moveTo>
                    <a:pt x="8686800" y="0"/>
                  </a:moveTo>
                  <a:lnTo>
                    <a:pt x="0" y="0"/>
                  </a:lnTo>
                  <a:lnTo>
                    <a:pt x="0" y="519112"/>
                  </a:lnTo>
                  <a:lnTo>
                    <a:pt x="8686800" y="519112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07340" y="1011681"/>
            <a:ext cx="7696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Find </a:t>
            </a:r>
            <a:r>
              <a:rPr dirty="0"/>
              <a:t>the </a:t>
            </a:r>
            <a:r>
              <a:rPr spc="-75" dirty="0"/>
              <a:t>error,</a:t>
            </a:r>
            <a:r>
              <a:rPr spc="-20" dirty="0"/>
              <a:t> </a:t>
            </a:r>
            <a:r>
              <a:rPr spc="-5" dirty="0"/>
              <a:t>if</a:t>
            </a:r>
            <a:r>
              <a:rPr spc="5" dirty="0"/>
              <a:t> </a:t>
            </a:r>
            <a:r>
              <a:rPr spc="-45" dirty="0"/>
              <a:t>any,</a:t>
            </a:r>
            <a:r>
              <a:rPr spc="5" dirty="0"/>
              <a:t> </a:t>
            </a:r>
            <a:r>
              <a:rPr spc="-5" dirty="0"/>
              <a:t>in</a:t>
            </a:r>
            <a:r>
              <a:rPr spc="5" dirty="0"/>
              <a:t> </a:t>
            </a:r>
            <a:r>
              <a:rPr dirty="0"/>
              <a:t>the</a:t>
            </a:r>
            <a:r>
              <a:rPr spc="-5" dirty="0"/>
              <a:t> following</a:t>
            </a:r>
            <a:r>
              <a:rPr spc="-15" dirty="0"/>
              <a:t> </a:t>
            </a:r>
            <a:r>
              <a:rPr spc="-5" dirty="0"/>
              <a:t>IPv4</a:t>
            </a:r>
            <a:r>
              <a:rPr spc="15" dirty="0"/>
              <a:t> </a:t>
            </a:r>
            <a:r>
              <a:rPr spc="-15" dirty="0"/>
              <a:t>addresses.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22044" y="25400"/>
            <a:ext cx="1280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0000FF"/>
                </a:solidFill>
                <a:latin typeface="Times New Roman"/>
                <a:cs typeface="Times New Roman"/>
              </a:rPr>
              <a:t>Example</a:t>
            </a:r>
            <a:r>
              <a:rPr sz="1800" i="1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00FF"/>
                </a:solidFill>
                <a:latin typeface="Times New Roman"/>
                <a:cs typeface="Times New Roman"/>
              </a:rPr>
              <a:t>19.3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4162" y="1447904"/>
            <a:ext cx="3595684" cy="2074741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8787" y="44196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300" y="2759075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1115" rIns="0" bIns="0" rtlCol="0">
            <a:spAutoFit/>
          </a:bodyPr>
          <a:lstStyle/>
          <a:p>
            <a:pPr marL="3279140" marR="921385" indent="-235648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classful addressing,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address</a:t>
            </a:r>
            <a:r>
              <a:rPr sz="1800" dirty="0">
                <a:latin typeface="Calibri"/>
                <a:cs typeface="Calibri"/>
              </a:rPr>
              <a:t> space is </a:t>
            </a:r>
            <a:r>
              <a:rPr sz="1800" spc="-5" dirty="0">
                <a:latin typeface="Calibri"/>
                <a:cs typeface="Calibri"/>
              </a:rPr>
              <a:t>divided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five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classes: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A,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D,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9442" y="2002358"/>
            <a:ext cx="697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FF"/>
                </a:solidFill>
              </a:rPr>
              <a:t>Note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52"/>
            <a:ext cx="7465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8450" algn="l"/>
              </a:tabLst>
            </a:pPr>
            <a:r>
              <a:rPr sz="2400" i="0" spc="-5" dirty="0">
                <a:solidFill>
                  <a:srgbClr val="800080"/>
                </a:solidFill>
                <a:latin typeface="Times New Roman"/>
                <a:cs typeface="Times New Roman"/>
              </a:rPr>
              <a:t>Figure</a:t>
            </a:r>
            <a:r>
              <a:rPr sz="2400" i="0" spc="-10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400" i="0" spc="-5" dirty="0">
                <a:solidFill>
                  <a:srgbClr val="800080"/>
                </a:solidFill>
                <a:latin typeface="Times New Roman"/>
                <a:cs typeface="Times New Roman"/>
              </a:rPr>
              <a:t>19.2	</a:t>
            </a:r>
            <a:r>
              <a:rPr sz="2000" dirty="0"/>
              <a:t>Finding</a:t>
            </a:r>
            <a:r>
              <a:rPr sz="2000" spc="-30" dirty="0"/>
              <a:t> </a:t>
            </a:r>
            <a:r>
              <a:rPr sz="2000" dirty="0"/>
              <a:t>the</a:t>
            </a:r>
            <a:r>
              <a:rPr sz="2000" spc="-30" dirty="0"/>
              <a:t> </a:t>
            </a:r>
            <a:r>
              <a:rPr sz="2000" dirty="0"/>
              <a:t>classes</a:t>
            </a:r>
            <a:r>
              <a:rPr sz="2000" spc="-25" dirty="0"/>
              <a:t> </a:t>
            </a:r>
            <a:r>
              <a:rPr sz="2000" dirty="0"/>
              <a:t>in</a:t>
            </a:r>
            <a:r>
              <a:rPr sz="2000" spc="-10" dirty="0"/>
              <a:t> </a:t>
            </a:r>
            <a:r>
              <a:rPr sz="2000" dirty="0"/>
              <a:t>binary</a:t>
            </a:r>
            <a:r>
              <a:rPr sz="2000" spc="-35" dirty="0"/>
              <a:t> </a:t>
            </a:r>
            <a:r>
              <a:rPr sz="2000" spc="5" dirty="0"/>
              <a:t>and</a:t>
            </a:r>
            <a:r>
              <a:rPr sz="2000" spc="-30" dirty="0"/>
              <a:t> </a:t>
            </a:r>
            <a:r>
              <a:rPr sz="2000" dirty="0"/>
              <a:t>dotted-decimal</a:t>
            </a:r>
            <a:r>
              <a:rPr sz="2000" spc="-65" dirty="0"/>
              <a:t> </a:t>
            </a:r>
            <a:r>
              <a:rPr sz="2000" dirty="0"/>
              <a:t>notation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133473"/>
            <a:ext cx="8226425" cy="28541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164081"/>
            <a:ext cx="4412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Find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5" dirty="0"/>
              <a:t>class</a:t>
            </a:r>
            <a:r>
              <a:rPr spc="-1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5" dirty="0"/>
              <a:t>each</a:t>
            </a:r>
            <a:r>
              <a:rPr spc="-10" dirty="0"/>
              <a:t> </a:t>
            </a:r>
            <a:r>
              <a:rPr spc="-15" dirty="0"/>
              <a:t>address.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4195" algn="l"/>
              </a:tabLst>
            </a:pPr>
            <a:r>
              <a:rPr i="1" dirty="0">
                <a:solidFill>
                  <a:srgbClr val="0000FF"/>
                </a:solidFill>
                <a:latin typeface="Times New Roman"/>
                <a:cs typeface="Times New Roman"/>
              </a:rPr>
              <a:t>a.	</a:t>
            </a:r>
            <a:r>
              <a:rPr u="heavy" dirty="0">
                <a:solidFill>
                  <a:srgbClr val="009900"/>
                </a:solidFill>
                <a:uFill>
                  <a:solidFill>
                    <a:srgbClr val="009900"/>
                  </a:solidFill>
                </a:uFill>
              </a:rPr>
              <a:t>0</a:t>
            </a:r>
            <a:r>
              <a:rPr dirty="0"/>
              <a:t>0000001</a:t>
            </a:r>
            <a:r>
              <a:rPr spc="-30" dirty="0"/>
              <a:t> </a:t>
            </a:r>
            <a:r>
              <a:rPr spc="-15" dirty="0"/>
              <a:t>00001011</a:t>
            </a:r>
            <a:r>
              <a:rPr spc="-20" dirty="0"/>
              <a:t> </a:t>
            </a:r>
            <a:r>
              <a:rPr spc="-15" dirty="0"/>
              <a:t>00001011</a:t>
            </a:r>
            <a:r>
              <a:rPr spc="-25" dirty="0"/>
              <a:t> </a:t>
            </a:r>
            <a:r>
              <a:rPr spc="-70" dirty="0"/>
              <a:t>11101111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44195" algn="l"/>
              </a:tabLst>
            </a:pPr>
            <a:r>
              <a:rPr i="1" spc="-5" dirty="0">
                <a:solidFill>
                  <a:srgbClr val="0000FF"/>
                </a:solidFill>
                <a:latin typeface="Times New Roman"/>
                <a:cs typeface="Times New Roman"/>
              </a:rPr>
              <a:t>b.	</a:t>
            </a:r>
            <a:r>
              <a:rPr u="heavy" spc="-15" dirty="0">
                <a:solidFill>
                  <a:srgbClr val="009900"/>
                </a:solidFill>
                <a:uFill>
                  <a:solidFill>
                    <a:srgbClr val="009900"/>
                  </a:solidFill>
                </a:uFill>
              </a:rPr>
              <a:t>110</a:t>
            </a:r>
            <a:r>
              <a:rPr spc="-15" dirty="0"/>
              <a:t>00001</a:t>
            </a:r>
            <a:r>
              <a:rPr spc="-25" dirty="0"/>
              <a:t> </a:t>
            </a:r>
            <a:r>
              <a:rPr spc="-15" dirty="0"/>
              <a:t>10000011</a:t>
            </a:r>
            <a:r>
              <a:rPr spc="-5" dirty="0"/>
              <a:t> </a:t>
            </a:r>
            <a:r>
              <a:rPr spc="-30" dirty="0"/>
              <a:t>00011011</a:t>
            </a:r>
            <a:r>
              <a:rPr spc="-10" dirty="0"/>
              <a:t> </a:t>
            </a:r>
            <a:r>
              <a:rPr spc="-110" dirty="0"/>
              <a:t>11111111</a:t>
            </a:r>
          </a:p>
          <a:p>
            <a:pPr marL="12700">
              <a:lnSpc>
                <a:spcPct val="100000"/>
              </a:lnSpc>
              <a:tabLst>
                <a:tab pos="522605" algn="l"/>
              </a:tabLst>
            </a:pPr>
            <a:r>
              <a:rPr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c.	</a:t>
            </a:r>
            <a:r>
              <a:rPr u="heavy" dirty="0">
                <a:solidFill>
                  <a:srgbClr val="009900"/>
                </a:solidFill>
                <a:uFill>
                  <a:solidFill>
                    <a:srgbClr val="009900"/>
                  </a:solidFill>
                </a:uFill>
              </a:rPr>
              <a:t>14</a:t>
            </a:r>
            <a:r>
              <a:rPr dirty="0"/>
              <a:t>.23.120.8</a:t>
            </a:r>
          </a:p>
          <a:p>
            <a:pPr marL="12700">
              <a:lnSpc>
                <a:spcPct val="100000"/>
              </a:lnSpc>
              <a:tabLst>
                <a:tab pos="544195" algn="l"/>
              </a:tabLst>
            </a:pPr>
            <a:r>
              <a:rPr i="1" dirty="0">
                <a:solidFill>
                  <a:srgbClr val="0000FF"/>
                </a:solidFill>
                <a:latin typeface="Times New Roman"/>
                <a:cs typeface="Times New Roman"/>
              </a:rPr>
              <a:t>d.	</a:t>
            </a:r>
            <a:r>
              <a:rPr u="heavy" spc="-30" dirty="0">
                <a:solidFill>
                  <a:srgbClr val="009900"/>
                </a:solidFill>
                <a:uFill>
                  <a:solidFill>
                    <a:srgbClr val="009900"/>
                  </a:solidFill>
                </a:uFill>
              </a:rPr>
              <a:t>252</a:t>
            </a:r>
            <a:r>
              <a:rPr spc="-30" dirty="0"/>
              <a:t>.5.15.111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2044" y="25400"/>
            <a:ext cx="1280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0000FF"/>
                </a:solidFill>
                <a:latin typeface="Times New Roman"/>
                <a:cs typeface="Times New Roman"/>
              </a:rPr>
              <a:t>Example</a:t>
            </a:r>
            <a:r>
              <a:rPr sz="1800" i="1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00FF"/>
                </a:solidFill>
                <a:latin typeface="Times New Roman"/>
                <a:cs typeface="Times New Roman"/>
              </a:rPr>
              <a:t>19.4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1851405"/>
            <a:ext cx="7559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3355" algn="l"/>
              </a:tabLst>
            </a:pPr>
            <a:r>
              <a:rPr sz="2400" i="0" spc="-35" dirty="0">
                <a:solidFill>
                  <a:srgbClr val="800080"/>
                </a:solidFill>
                <a:latin typeface="Times New Roman"/>
                <a:cs typeface="Times New Roman"/>
              </a:rPr>
              <a:t>Table </a:t>
            </a:r>
            <a:r>
              <a:rPr sz="2400" i="0" dirty="0">
                <a:solidFill>
                  <a:srgbClr val="800080"/>
                </a:solidFill>
                <a:latin typeface="Times New Roman"/>
                <a:cs typeface="Times New Roman"/>
              </a:rPr>
              <a:t>19.1	</a:t>
            </a:r>
            <a:r>
              <a:rPr sz="2000" dirty="0"/>
              <a:t>Number</a:t>
            </a:r>
            <a:r>
              <a:rPr sz="2000" spc="-20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blocks</a:t>
            </a:r>
            <a:r>
              <a:rPr sz="2000" spc="-30" dirty="0"/>
              <a:t> </a:t>
            </a:r>
            <a:r>
              <a:rPr sz="2000" spc="5" dirty="0"/>
              <a:t>and</a:t>
            </a:r>
            <a:r>
              <a:rPr sz="2000" spc="-20" dirty="0"/>
              <a:t> </a:t>
            </a:r>
            <a:r>
              <a:rPr sz="2000" dirty="0"/>
              <a:t>block</a:t>
            </a:r>
            <a:r>
              <a:rPr sz="2000" spc="-30" dirty="0"/>
              <a:t> </a:t>
            </a:r>
            <a:r>
              <a:rPr sz="2000" dirty="0"/>
              <a:t>size</a:t>
            </a:r>
            <a:r>
              <a:rPr sz="2000" spc="-30" dirty="0"/>
              <a:t> </a:t>
            </a:r>
            <a:r>
              <a:rPr sz="2000" dirty="0"/>
              <a:t>in</a:t>
            </a:r>
            <a:r>
              <a:rPr sz="2000" spc="-15" dirty="0"/>
              <a:t> </a:t>
            </a:r>
            <a:r>
              <a:rPr sz="2000" dirty="0"/>
              <a:t>classful</a:t>
            </a:r>
            <a:r>
              <a:rPr sz="2000" spc="-45" dirty="0"/>
              <a:t> </a:t>
            </a:r>
            <a:r>
              <a:rPr sz="2000" dirty="0"/>
              <a:t>IPv4</a:t>
            </a:r>
            <a:r>
              <a:rPr sz="2000" spc="-20" dirty="0"/>
              <a:t> </a:t>
            </a:r>
            <a:r>
              <a:rPr sz="2000" spc="-5" dirty="0"/>
              <a:t>addressing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497" y="2380014"/>
            <a:ext cx="7781871" cy="21676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8787" y="39624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1115" rIns="0" bIns="0" rtlCol="0">
            <a:spAutoFit/>
          </a:bodyPr>
          <a:lstStyle/>
          <a:p>
            <a:pPr marL="60134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classful addressing,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large</a:t>
            </a:r>
            <a:r>
              <a:rPr sz="1800" dirty="0">
                <a:latin typeface="Calibri"/>
                <a:cs typeface="Calibri"/>
              </a:rPr>
              <a:t> part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available</a:t>
            </a:r>
            <a:r>
              <a:rPr sz="1800" spc="-5" dirty="0">
                <a:latin typeface="Calibri"/>
                <a:cs typeface="Calibri"/>
              </a:rPr>
              <a:t> addresses</a:t>
            </a:r>
            <a:r>
              <a:rPr sz="1800" spc="-10" dirty="0">
                <a:latin typeface="Calibri"/>
                <a:cs typeface="Calibri"/>
              </a:rPr>
              <a:t> were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wasted.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9442" y="2002358"/>
            <a:ext cx="697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FF"/>
                </a:solidFill>
              </a:rPr>
              <a:t>Note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2232482"/>
            <a:ext cx="52692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43355" algn="l"/>
              </a:tabLst>
            </a:pPr>
            <a:r>
              <a:rPr sz="2400" i="0" spc="-35" dirty="0">
                <a:solidFill>
                  <a:srgbClr val="800080"/>
                </a:solidFill>
                <a:latin typeface="Times New Roman"/>
                <a:cs typeface="Times New Roman"/>
              </a:rPr>
              <a:t>Table </a:t>
            </a:r>
            <a:r>
              <a:rPr sz="2400" i="0" dirty="0">
                <a:solidFill>
                  <a:srgbClr val="800080"/>
                </a:solidFill>
                <a:latin typeface="Times New Roman"/>
                <a:cs typeface="Times New Roman"/>
              </a:rPr>
              <a:t>19.2	</a:t>
            </a:r>
            <a:r>
              <a:rPr sz="2000" dirty="0"/>
              <a:t>Default</a:t>
            </a:r>
            <a:r>
              <a:rPr sz="2000" spc="-40" dirty="0"/>
              <a:t> </a:t>
            </a:r>
            <a:r>
              <a:rPr sz="2000" dirty="0"/>
              <a:t>masks</a:t>
            </a:r>
            <a:r>
              <a:rPr sz="2000" spc="-35" dirty="0"/>
              <a:t> </a:t>
            </a:r>
            <a:r>
              <a:rPr sz="2000" dirty="0"/>
              <a:t>for</a:t>
            </a:r>
            <a:r>
              <a:rPr sz="2000" spc="-35" dirty="0"/>
              <a:t> </a:t>
            </a:r>
            <a:r>
              <a:rPr sz="2000" dirty="0"/>
              <a:t>classful</a:t>
            </a:r>
            <a:r>
              <a:rPr sz="2000" spc="-45" dirty="0"/>
              <a:t> </a:t>
            </a:r>
            <a:r>
              <a:rPr sz="2000" spc="-5" dirty="0"/>
              <a:t>addressing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051" y="2815762"/>
            <a:ext cx="8075513" cy="14558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8787" y="44196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300" y="2759075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111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245"/>
              </a:spcBef>
            </a:pPr>
            <a:r>
              <a:rPr sz="1800" spc="-5" dirty="0">
                <a:latin typeface="Calibri"/>
                <a:cs typeface="Calibri"/>
              </a:rPr>
              <a:t>Classful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addressing,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which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almost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obsolete,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replaced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classless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addressing.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9442" y="2002358"/>
            <a:ext cx="697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FF"/>
                </a:solidFill>
              </a:rPr>
              <a:t>Note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03352"/>
            <a:ext cx="7247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8450" algn="l"/>
              </a:tabLst>
            </a:pPr>
            <a:r>
              <a:rPr sz="2400" i="0" spc="-5" dirty="0">
                <a:solidFill>
                  <a:srgbClr val="800080"/>
                </a:solidFill>
                <a:latin typeface="Times New Roman"/>
                <a:cs typeface="Times New Roman"/>
              </a:rPr>
              <a:t>Figure</a:t>
            </a:r>
            <a:r>
              <a:rPr sz="2400" i="0" spc="-10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400" i="0" spc="-5" dirty="0">
                <a:solidFill>
                  <a:srgbClr val="800080"/>
                </a:solidFill>
                <a:latin typeface="Times New Roman"/>
                <a:cs typeface="Times New Roman"/>
              </a:rPr>
              <a:t>19.3	</a:t>
            </a:r>
            <a:r>
              <a:rPr sz="2000" dirty="0"/>
              <a:t>A</a:t>
            </a:r>
            <a:r>
              <a:rPr sz="2000" spc="-35" dirty="0"/>
              <a:t> </a:t>
            </a:r>
            <a:r>
              <a:rPr sz="2000" dirty="0"/>
              <a:t>block</a:t>
            </a:r>
            <a:r>
              <a:rPr sz="2000" spc="-25" dirty="0"/>
              <a:t> </a:t>
            </a:r>
            <a:r>
              <a:rPr sz="2000" dirty="0"/>
              <a:t>of</a:t>
            </a:r>
            <a:r>
              <a:rPr sz="2000" spc="-10" dirty="0"/>
              <a:t> </a:t>
            </a:r>
            <a:r>
              <a:rPr sz="2000" dirty="0"/>
              <a:t>16</a:t>
            </a:r>
            <a:r>
              <a:rPr sz="2000" spc="-10" dirty="0"/>
              <a:t> </a:t>
            </a:r>
            <a:r>
              <a:rPr sz="2000" spc="-5" dirty="0"/>
              <a:t>addresses</a:t>
            </a:r>
            <a:r>
              <a:rPr sz="2000" spc="-45" dirty="0"/>
              <a:t> </a:t>
            </a:r>
            <a:r>
              <a:rPr sz="2000" dirty="0"/>
              <a:t>granted</a:t>
            </a:r>
            <a:r>
              <a:rPr sz="2000" spc="-40" dirty="0"/>
              <a:t> </a:t>
            </a:r>
            <a:r>
              <a:rPr sz="2000" dirty="0"/>
              <a:t>to</a:t>
            </a:r>
            <a:r>
              <a:rPr sz="2000" spc="-10" dirty="0"/>
              <a:t> </a:t>
            </a:r>
            <a:r>
              <a:rPr sz="2000" dirty="0"/>
              <a:t>a small</a:t>
            </a:r>
            <a:r>
              <a:rPr sz="2000" spc="-30" dirty="0"/>
              <a:t> </a:t>
            </a:r>
            <a:r>
              <a:rPr sz="2000" spc="-10" dirty="0"/>
              <a:t>organization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102" y="2084265"/>
            <a:ext cx="8148189" cy="23078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8787" y="54102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300" y="2759075"/>
            <a:ext cx="8077200" cy="252920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1115" rIns="0" bIns="0" rtlCol="0">
            <a:spAutoFit/>
          </a:bodyPr>
          <a:lstStyle/>
          <a:p>
            <a:pPr marL="2738120" marR="2689860" indent="-4318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In IPv4 </a:t>
            </a:r>
            <a:r>
              <a:rPr sz="1800" spc="-5" dirty="0">
                <a:latin typeface="Calibri"/>
                <a:cs typeface="Calibri"/>
              </a:rPr>
              <a:t>addressing,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block of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addresses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defined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endParaRPr sz="1800">
              <a:latin typeface="Calibri"/>
              <a:cs typeface="Calibri"/>
            </a:endParaRPr>
          </a:p>
          <a:p>
            <a:pPr marL="3653790">
              <a:lnSpc>
                <a:spcPct val="100000"/>
              </a:lnSpc>
            </a:pPr>
            <a:r>
              <a:rPr sz="1800" spc="-35" dirty="0">
                <a:latin typeface="Calibri"/>
                <a:cs typeface="Calibri"/>
              </a:rPr>
              <a:t>x.y.z.t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/</a:t>
            </a:r>
            <a:r>
              <a:rPr sz="1800" i="1" spc="-5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  <a:p>
            <a:pPr marL="64833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in which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x.y.z.t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defines one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addresses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/</a:t>
            </a:r>
            <a:r>
              <a:rPr sz="1800" i="1" spc="10" dirty="0">
                <a:latin typeface="Calibri"/>
                <a:cs typeface="Calibri"/>
              </a:rPr>
              <a:t>n </a:t>
            </a:r>
            <a:r>
              <a:rPr sz="1800" spc="-5" dirty="0">
                <a:latin typeface="Calibri"/>
                <a:cs typeface="Calibri"/>
              </a:rPr>
              <a:t>defines </a:t>
            </a:r>
            <a:r>
              <a:rPr sz="1800" dirty="0">
                <a:latin typeface="Calibri"/>
                <a:cs typeface="Calibri"/>
              </a:rPr>
              <a:t>the mask.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9442" y="2002358"/>
            <a:ext cx="697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FF"/>
                </a:solidFill>
              </a:rPr>
              <a:t>Note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8787" y="44196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5300" y="2759075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1115" rIns="0" bIns="0" rtlCol="0">
            <a:spAutoFit/>
          </a:bodyPr>
          <a:lstStyle/>
          <a:p>
            <a:pPr marL="3277870" marR="931544" indent="-2343150">
              <a:lnSpc>
                <a:spcPct val="100000"/>
              </a:lnSpc>
              <a:spcBef>
                <a:spcPts val="245"/>
              </a:spcBef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first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address in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block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found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setting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rightmost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32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−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</a:t>
            </a:r>
            <a:r>
              <a:rPr sz="1800" i="1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9442" y="2002358"/>
            <a:ext cx="697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FF"/>
                </a:solidFill>
              </a:rPr>
              <a:t>Note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19.</a:t>
            </a: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389</Words>
  <Application>Microsoft Office PowerPoint</Application>
  <PresentationFormat>On-screen Show (4:3)</PresentationFormat>
  <Paragraphs>62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urw-din</vt:lpstr>
      <vt:lpstr>Office Theme</vt:lpstr>
      <vt:lpstr>PowerPoint Presentation</vt:lpstr>
      <vt:lpstr>IP address is an address having information about how to reach a specific host, especially outside the LAN. An IP address is a 32 bit unique address having an address space of 232.</vt:lpstr>
      <vt:lpstr>Note</vt:lpstr>
      <vt:lpstr>Note</vt:lpstr>
      <vt:lpstr>Note</vt:lpstr>
      <vt:lpstr>PowerPoint Presentation</vt:lpstr>
      <vt:lpstr>IPv4 address is divided into two parts  Network ID Host ID </vt:lpstr>
      <vt:lpstr>Figure 19.1 Dotted-decimal notation and binary notation for an IPv4 address</vt:lpstr>
      <vt:lpstr>Change the following IPv4 addresses from binary notation  to dotted-decimal notation.</vt:lpstr>
      <vt:lpstr>Change the following IPv4 addresses from dotted-decimal  notation to binary notation.</vt:lpstr>
      <vt:lpstr>Find the error, if any, in the following IPv4 addresses.</vt:lpstr>
      <vt:lpstr>Note</vt:lpstr>
      <vt:lpstr>Figure 19.2 Finding the classes in binary and dotted-decimal notation</vt:lpstr>
      <vt:lpstr>Find the class of each address.</vt:lpstr>
      <vt:lpstr>Table 19.1 Number of blocks and block size in classful IPv4 addressing</vt:lpstr>
      <vt:lpstr>Note</vt:lpstr>
      <vt:lpstr>Table 19.2 Default masks for classful addressing</vt:lpstr>
      <vt:lpstr>Note</vt:lpstr>
      <vt:lpstr>Figure 19.3 A block of 16 addresses granted to a small organization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Parambir</cp:lastModifiedBy>
  <cp:revision>6</cp:revision>
  <dcterms:created xsi:type="dcterms:W3CDTF">2022-09-27T03:45:34Z</dcterms:created>
  <dcterms:modified xsi:type="dcterms:W3CDTF">2022-09-27T06:49:45Z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2017-03-20T00:00:00Z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2022-09-27T00:00:00Z</vt:filetime>
  </property>
</Properties>
</file>