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6" r:id="rId37"/>
    <p:sldId id="297" r:id="rId38"/>
    <p:sldId id="298" r:id="rId39"/>
    <p:sldId id="299" r:id="rId40"/>
    <p:sldId id="300" r:id="rId41"/>
    <p:sldId id="303" r:id="rId4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3" y="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66712" y="350837"/>
            <a:ext cx="382905" cy="474980"/>
          </a:xfrm>
          <a:custGeom>
            <a:avLst/>
            <a:gdLst/>
            <a:ahLst/>
            <a:cxnLst/>
            <a:rect l="l" t="t" r="r" b="b"/>
            <a:pathLst>
              <a:path w="382905" h="474980">
                <a:moveTo>
                  <a:pt x="382587" y="0"/>
                </a:moveTo>
                <a:lnTo>
                  <a:pt x="0" y="0"/>
                </a:lnTo>
                <a:lnTo>
                  <a:pt x="0" y="349313"/>
                </a:lnTo>
                <a:lnTo>
                  <a:pt x="0" y="474662"/>
                </a:lnTo>
                <a:lnTo>
                  <a:pt x="382587" y="474662"/>
                </a:lnTo>
                <a:lnTo>
                  <a:pt x="382587" y="349313"/>
                </a:lnTo>
                <a:lnTo>
                  <a:pt x="382587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00" y="350837"/>
            <a:ext cx="328612" cy="47466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90537" y="773112"/>
            <a:ext cx="370205" cy="474980"/>
          </a:xfrm>
          <a:custGeom>
            <a:avLst/>
            <a:gdLst/>
            <a:ahLst/>
            <a:cxnLst/>
            <a:rect l="l" t="t" r="r" b="b"/>
            <a:pathLst>
              <a:path w="370205" h="474980">
                <a:moveTo>
                  <a:pt x="369887" y="0"/>
                </a:moveTo>
                <a:lnTo>
                  <a:pt x="0" y="0"/>
                </a:lnTo>
                <a:lnTo>
                  <a:pt x="0" y="349313"/>
                </a:lnTo>
                <a:lnTo>
                  <a:pt x="0" y="474662"/>
                </a:lnTo>
                <a:lnTo>
                  <a:pt x="369887" y="474662"/>
                </a:lnTo>
                <a:lnTo>
                  <a:pt x="369887" y="349313"/>
                </a:lnTo>
                <a:lnTo>
                  <a:pt x="369887" y="0"/>
                </a:lnTo>
                <a:close/>
              </a:path>
            </a:pathLst>
          </a:custGeom>
          <a:solidFill>
            <a:srgbClr val="8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0425" y="773112"/>
            <a:ext cx="368300" cy="47466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" y="700151"/>
            <a:ext cx="560387" cy="42227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11200" y="242887"/>
            <a:ext cx="31750" cy="1052830"/>
          </a:xfrm>
          <a:custGeom>
            <a:avLst/>
            <a:gdLst/>
            <a:ahLst/>
            <a:cxnLst/>
            <a:rect l="l" t="t" r="r" b="b"/>
            <a:pathLst>
              <a:path w="31750" h="1052830">
                <a:moveTo>
                  <a:pt x="31750" y="562038"/>
                </a:moveTo>
                <a:lnTo>
                  <a:pt x="0" y="562038"/>
                </a:lnTo>
                <a:lnTo>
                  <a:pt x="0" y="1052512"/>
                </a:lnTo>
                <a:lnTo>
                  <a:pt x="31750" y="1052512"/>
                </a:lnTo>
                <a:lnTo>
                  <a:pt x="31750" y="562038"/>
                </a:lnTo>
                <a:close/>
              </a:path>
              <a:path w="31750" h="1052830">
                <a:moveTo>
                  <a:pt x="31750" y="0"/>
                </a:moveTo>
                <a:lnTo>
                  <a:pt x="0" y="0"/>
                </a:lnTo>
                <a:lnTo>
                  <a:pt x="0" y="530288"/>
                </a:lnTo>
                <a:lnTo>
                  <a:pt x="31750" y="530288"/>
                </a:lnTo>
                <a:lnTo>
                  <a:pt x="31750" y="0"/>
                </a:lnTo>
                <a:close/>
              </a:path>
            </a:pathLst>
          </a:custGeom>
          <a:solidFill>
            <a:srgbClr val="EDEBE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2912" y="773176"/>
            <a:ext cx="8226425" cy="317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22044" y="201930"/>
            <a:ext cx="669991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53134" y="622757"/>
            <a:ext cx="6637731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3269" y="2003882"/>
            <a:ext cx="7617460" cy="2879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.png"/><Relationship Id="rId5" Type="http://schemas.openxmlformats.org/officeDocument/2006/relationships/image" Target="../media/image4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053" y="2903347"/>
            <a:ext cx="66376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0" dirty="0"/>
              <a:t>Transmission</a:t>
            </a:r>
            <a:r>
              <a:rPr sz="6000" spc="-75" dirty="0"/>
              <a:t> </a:t>
            </a:r>
            <a:r>
              <a:rPr sz="6000" dirty="0"/>
              <a:t>Media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162557"/>
            <a:ext cx="7615555" cy="392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transmission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medium</a:t>
            </a:r>
            <a:r>
              <a:rPr sz="3200" b="1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broadly </a:t>
            </a:r>
            <a:r>
              <a:rPr sz="3200" dirty="0">
                <a:latin typeface="Times New Roman"/>
                <a:cs typeface="Times New Roman"/>
              </a:rPr>
              <a:t> defined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anything</a:t>
            </a:r>
            <a:r>
              <a:rPr sz="3200" dirty="0">
                <a:latin typeface="Times New Roman"/>
                <a:cs typeface="Times New Roman"/>
              </a:rPr>
              <a:t> that</a:t>
            </a:r>
            <a:r>
              <a:rPr sz="3200" spc="5" dirty="0">
                <a:latin typeface="Times New Roman"/>
                <a:cs typeface="Times New Roman"/>
              </a:rPr>
              <a:t> can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carry </a:t>
            </a:r>
            <a:r>
              <a:rPr sz="3200" dirty="0">
                <a:latin typeface="Times New Roman"/>
                <a:cs typeface="Times New Roman"/>
              </a:rPr>
              <a:t> information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from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source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a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destination.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3150">
              <a:latin typeface="Times New Roman"/>
              <a:cs typeface="Times New Roman"/>
            </a:endParaRPr>
          </a:p>
          <a:p>
            <a:pPr marL="355600" marR="276225" indent="-343535" algn="just">
              <a:lnSpc>
                <a:spcPct val="100000"/>
              </a:lnSpc>
              <a:buFont typeface="Arial MT"/>
              <a:buChar char="•"/>
              <a:tabLst>
                <a:tab pos="356235" algn="l"/>
              </a:tabLst>
            </a:pPr>
            <a:r>
              <a:rPr sz="3200" dirty="0">
                <a:latin typeface="Times New Roman"/>
                <a:cs typeface="Times New Roman"/>
              </a:rPr>
              <a:t>For example, the transmission medium for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two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people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having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dinner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conversation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</a:t>
            </a:r>
            <a:r>
              <a:rPr sz="3200" spc="-7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45" dirty="0">
                <a:latin typeface="Times New Roman"/>
                <a:cs typeface="Times New Roman"/>
              </a:rPr>
              <a:t>air.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4012" y="2053566"/>
            <a:ext cx="6334125" cy="26789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5578" y="813562"/>
            <a:ext cx="715390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Classes</a:t>
            </a:r>
            <a:r>
              <a:rPr spc="-4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transmission</a:t>
            </a:r>
            <a:r>
              <a:rPr spc="-40" dirty="0"/>
              <a:t> </a:t>
            </a:r>
            <a:r>
              <a:rPr dirty="0"/>
              <a:t>media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887" y="2517851"/>
            <a:ext cx="8304388" cy="32368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9045" y="6431381"/>
            <a:ext cx="238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888888"/>
                </a:solidFill>
                <a:latin typeface="Arial"/>
                <a:cs typeface="Arial"/>
              </a:rPr>
              <a:t>7.5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087881"/>
            <a:ext cx="762825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Guided media, which are </a:t>
            </a:r>
            <a:r>
              <a:rPr sz="2800" dirty="0">
                <a:latin typeface="Times New Roman"/>
                <a:cs typeface="Times New Roman"/>
              </a:rPr>
              <a:t>those </a:t>
            </a:r>
            <a:r>
              <a:rPr sz="2800" spc="-5" dirty="0">
                <a:latin typeface="Times New Roman"/>
                <a:cs typeface="Times New Roman"/>
              </a:rPr>
              <a:t>that </a:t>
            </a:r>
            <a:r>
              <a:rPr sz="2800" dirty="0">
                <a:latin typeface="Times New Roman"/>
                <a:cs typeface="Times New Roman"/>
              </a:rPr>
              <a:t>provide </a:t>
            </a:r>
            <a:r>
              <a:rPr sz="2800" spc="-5" dirty="0">
                <a:latin typeface="Times New Roman"/>
                <a:cs typeface="Times New Roman"/>
              </a:rPr>
              <a:t>a conduit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from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one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device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to </a:t>
            </a:r>
            <a:r>
              <a:rPr sz="2800" spc="-25" dirty="0">
                <a:latin typeface="Times New Roman"/>
                <a:cs typeface="Times New Roman"/>
              </a:rPr>
              <a:t>another.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2795142"/>
            <a:ext cx="70624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Unguided media </a:t>
            </a:r>
            <a:r>
              <a:rPr sz="2800" dirty="0">
                <a:latin typeface="Times New Roman"/>
                <a:cs typeface="Times New Roman"/>
              </a:rPr>
              <a:t>transport </a:t>
            </a:r>
            <a:r>
              <a:rPr sz="2800" spc="-5" dirty="0">
                <a:latin typeface="Times New Roman"/>
                <a:cs typeface="Times New Roman"/>
              </a:rPr>
              <a:t>electromagnetic </a:t>
            </a:r>
            <a:r>
              <a:rPr sz="2800" spc="-10" dirty="0">
                <a:latin typeface="Times New Roman"/>
                <a:cs typeface="Times New Roman"/>
              </a:rPr>
              <a:t>waves </a:t>
            </a:r>
            <a:r>
              <a:rPr sz="2800" spc="-6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without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 physical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conductor.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125" y="4538726"/>
            <a:ext cx="6939150" cy="18112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413" y="277499"/>
            <a:ext cx="8321040" cy="211582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639445" algn="ctr">
              <a:lnSpc>
                <a:spcPct val="100000"/>
              </a:lnSpc>
              <a:spcBef>
                <a:spcPts val="1025"/>
              </a:spcBef>
            </a:pPr>
            <a:r>
              <a:rPr sz="4000" spc="-30" dirty="0"/>
              <a:t>Twisted-Pair</a:t>
            </a:r>
            <a:r>
              <a:rPr sz="4000" spc="-85" dirty="0"/>
              <a:t> </a:t>
            </a:r>
            <a:r>
              <a:rPr sz="4000" spc="-5" dirty="0"/>
              <a:t>Cable</a:t>
            </a:r>
            <a:endParaRPr sz="4000"/>
          </a:p>
          <a:p>
            <a:pPr marL="12700" marR="5080" algn="just">
              <a:lnSpc>
                <a:spcPct val="100000"/>
              </a:lnSpc>
              <a:spcBef>
                <a:spcPts val="650"/>
              </a:spcBef>
            </a:pPr>
            <a:r>
              <a:rPr sz="2800" b="0" spc="-35" dirty="0">
                <a:solidFill>
                  <a:srgbClr val="000000"/>
                </a:solidFill>
                <a:latin typeface="Times New Roman"/>
                <a:cs typeface="Times New Roman"/>
              </a:rPr>
              <a:t>Twisted </a:t>
            </a:r>
            <a:r>
              <a:rPr sz="2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Pair and Coax use metallic(Copper) conductors </a:t>
            </a:r>
            <a:r>
              <a:rPr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that</a:t>
            </a:r>
            <a:r>
              <a:rPr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accept</a:t>
            </a:r>
            <a:r>
              <a:rPr sz="2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and</a:t>
            </a:r>
            <a:r>
              <a:rPr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transport</a:t>
            </a:r>
            <a:r>
              <a:rPr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 the</a:t>
            </a:r>
            <a:r>
              <a:rPr sz="28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signals</a:t>
            </a:r>
            <a:r>
              <a:rPr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z="2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8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form</a:t>
            </a:r>
            <a:r>
              <a:rPr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 of </a:t>
            </a:r>
            <a:r>
              <a:rPr sz="28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Electrical</a:t>
            </a:r>
            <a:r>
              <a:rPr sz="280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Current.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200" y="3200400"/>
            <a:ext cx="7999601" cy="8812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758" y="1428132"/>
            <a:ext cx="8450578" cy="39240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57604" y="365887"/>
            <a:ext cx="62039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"/>
                <a:cs typeface="Arial"/>
              </a:rPr>
              <a:t>Effect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Noise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on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Parallel Lines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931" y="1394597"/>
            <a:ext cx="8747883" cy="433042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10004" y="213182"/>
            <a:ext cx="54070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"/>
                <a:cs typeface="Arial"/>
              </a:rPr>
              <a:t>Noise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Twisted-Pair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Lines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6964" y="778510"/>
            <a:ext cx="43440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/>
                <a:cs typeface="Times New Roman"/>
              </a:rPr>
              <a:t>UTP</a:t>
            </a:r>
            <a:r>
              <a:rPr sz="4000" i="1" spc="-190" dirty="0">
                <a:latin typeface="Times New Roman"/>
                <a:cs typeface="Times New Roman"/>
              </a:rPr>
              <a:t> </a:t>
            </a:r>
            <a:r>
              <a:rPr sz="4000" i="1" spc="-5" dirty="0">
                <a:latin typeface="Times New Roman"/>
                <a:cs typeface="Times New Roman"/>
              </a:rPr>
              <a:t>and</a:t>
            </a:r>
            <a:r>
              <a:rPr sz="4000" i="1" spc="-30" dirty="0">
                <a:latin typeface="Times New Roman"/>
                <a:cs typeface="Times New Roman"/>
              </a:rPr>
              <a:t> </a:t>
            </a:r>
            <a:r>
              <a:rPr sz="4000" i="1" spc="-5" dirty="0">
                <a:latin typeface="Times New Roman"/>
                <a:cs typeface="Times New Roman"/>
              </a:rPr>
              <a:t>STP</a:t>
            </a:r>
            <a:r>
              <a:rPr sz="4000" i="1" spc="-180" dirty="0">
                <a:latin typeface="Times New Roman"/>
                <a:cs typeface="Times New Roman"/>
              </a:rPr>
              <a:t> </a:t>
            </a:r>
            <a:r>
              <a:rPr sz="4000" i="1" dirty="0">
                <a:latin typeface="Times New Roman"/>
                <a:cs typeface="Times New Roman"/>
              </a:rPr>
              <a:t>cables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137" y="2113026"/>
            <a:ext cx="8500999" cy="33273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3804" y="518287"/>
            <a:ext cx="54317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Arial"/>
                <a:cs typeface="Arial"/>
              </a:rPr>
              <a:t>Shielded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Twisted-Pair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Cable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9512" y="3200273"/>
            <a:ext cx="6105650" cy="19320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0413" y="1406778"/>
            <a:ext cx="86658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  <a:tab pos="1290955" algn="l"/>
                <a:tab pos="2364740" algn="l"/>
                <a:tab pos="3725545" algn="l"/>
                <a:tab pos="4339590" algn="l"/>
                <a:tab pos="6055995" algn="l"/>
                <a:tab pos="6501130" algn="l"/>
              </a:tabLst>
            </a:pPr>
            <a:r>
              <a:rPr sz="2400" dirty="0">
                <a:latin typeface="Arial MT"/>
                <a:cs typeface="Arial MT"/>
              </a:rPr>
              <a:t>Met</a:t>
            </a:r>
            <a:r>
              <a:rPr sz="2400" spc="-5" dirty="0">
                <a:latin typeface="Arial MT"/>
                <a:cs typeface="Arial MT"/>
              </a:rPr>
              <a:t>al	ca</a:t>
            </a:r>
            <a:r>
              <a:rPr sz="2400" spc="5" dirty="0">
                <a:latin typeface="Arial MT"/>
                <a:cs typeface="Arial MT"/>
              </a:rPr>
              <a:t>s</a:t>
            </a:r>
            <a:r>
              <a:rPr sz="2400" spc="-5" dirty="0">
                <a:latin typeface="Arial MT"/>
                <a:cs typeface="Arial MT"/>
              </a:rPr>
              <a:t>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pre</a:t>
            </a:r>
            <a:r>
              <a:rPr sz="2400" dirty="0">
                <a:latin typeface="Arial MT"/>
                <a:cs typeface="Arial MT"/>
              </a:rPr>
              <a:t>v</a:t>
            </a:r>
            <a:r>
              <a:rPr sz="2400" spc="-5" dirty="0">
                <a:latin typeface="Arial MT"/>
                <a:cs typeface="Arial MT"/>
              </a:rPr>
              <a:t>ents</a:t>
            </a:r>
            <a:r>
              <a:rPr sz="2400" dirty="0">
                <a:latin typeface="Arial MT"/>
                <a:cs typeface="Arial MT"/>
              </a:rPr>
              <a:t>	the	</a:t>
            </a:r>
            <a:r>
              <a:rPr sz="2400" spc="-5" dirty="0">
                <a:latin typeface="Arial MT"/>
                <a:cs typeface="Arial MT"/>
              </a:rPr>
              <a:t>penetration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o</a:t>
            </a:r>
            <a:r>
              <a:rPr sz="2400" dirty="0">
                <a:latin typeface="Arial MT"/>
                <a:cs typeface="Arial MT"/>
              </a:rPr>
              <a:t>f	</a:t>
            </a:r>
            <a:r>
              <a:rPr sz="2400" spc="-5" dirty="0">
                <a:latin typeface="Arial MT"/>
                <a:cs typeface="Arial MT"/>
              </a:rPr>
              <a:t>el</a:t>
            </a:r>
            <a:r>
              <a:rPr sz="2400" spc="-1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ct</a:t>
            </a:r>
            <a:r>
              <a:rPr sz="2400" spc="5" dirty="0">
                <a:latin typeface="Arial MT"/>
                <a:cs typeface="Arial MT"/>
              </a:rPr>
              <a:t>r</a:t>
            </a:r>
            <a:r>
              <a:rPr sz="2400" spc="-5" dirty="0">
                <a:latin typeface="Arial MT"/>
                <a:cs typeface="Arial MT"/>
              </a:rPr>
              <a:t>om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gn</a:t>
            </a:r>
            <a:r>
              <a:rPr sz="2400" spc="-1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tic  </a:t>
            </a:r>
            <a:r>
              <a:rPr sz="2400" spc="-5" dirty="0">
                <a:latin typeface="Arial MT"/>
                <a:cs typeface="Arial MT"/>
              </a:rPr>
              <a:t>noise.</a:t>
            </a:r>
            <a:endParaRPr sz="24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Arial MT"/>
                <a:cs typeface="Arial MT"/>
              </a:rPr>
              <a:t>Eliminate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phenomenon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called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CROSSTALK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27151"/>
            <a:ext cx="165417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000000"/>
                </a:solidFill>
              </a:rPr>
              <a:t>Advantages</a:t>
            </a:r>
            <a:r>
              <a:rPr sz="2300" spc="-114" dirty="0">
                <a:solidFill>
                  <a:srgbClr val="000000"/>
                </a:solidFill>
              </a:rPr>
              <a:t> </a:t>
            </a:r>
            <a:r>
              <a:rPr sz="2300" dirty="0">
                <a:solidFill>
                  <a:srgbClr val="000000"/>
                </a:solidFill>
              </a:rPr>
              <a:t>:</a:t>
            </a:r>
            <a:endParaRPr sz="2300"/>
          </a:p>
        </p:txBody>
      </p:sp>
      <p:sp>
        <p:nvSpPr>
          <p:cNvPr id="3" name="object 3"/>
          <p:cNvSpPr txBox="1"/>
          <p:nvPr/>
        </p:nvSpPr>
        <p:spPr>
          <a:xfrm>
            <a:off x="726440" y="1168653"/>
            <a:ext cx="7691755" cy="402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3530" indent="-29146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304165" algn="l"/>
              </a:tabLst>
            </a:pPr>
            <a:r>
              <a:rPr sz="2300" dirty="0">
                <a:latin typeface="Times New Roman"/>
                <a:cs typeface="Times New Roman"/>
              </a:rPr>
              <a:t>Cheaper</a:t>
            </a:r>
            <a:endParaRPr sz="2300">
              <a:latin typeface="Times New Roman"/>
              <a:cs typeface="Times New Roman"/>
            </a:endParaRPr>
          </a:p>
          <a:p>
            <a:pPr marL="12700" marR="454025">
              <a:lnSpc>
                <a:spcPct val="100000"/>
              </a:lnSpc>
              <a:buAutoNum type="arabicPeriod"/>
              <a:tabLst>
                <a:tab pos="304165" algn="l"/>
              </a:tabLst>
            </a:pPr>
            <a:r>
              <a:rPr sz="2300" dirty="0">
                <a:latin typeface="Times New Roman"/>
                <a:cs typeface="Times New Roman"/>
              </a:rPr>
              <a:t>Less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susceptible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electrical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interference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caused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by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nearby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equipment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or wires.</a:t>
            </a:r>
            <a:endParaRPr sz="2300">
              <a:latin typeface="Times New Roman"/>
              <a:cs typeface="Times New Roman"/>
            </a:endParaRPr>
          </a:p>
          <a:p>
            <a:pPr marL="303530" indent="-291465">
              <a:lnSpc>
                <a:spcPct val="100000"/>
              </a:lnSpc>
              <a:buAutoNum type="arabicPeriod"/>
              <a:tabLst>
                <a:tab pos="304165" algn="l"/>
              </a:tabLst>
            </a:pP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turn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less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likely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 cause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interference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themselves.</a:t>
            </a:r>
            <a:endParaRPr sz="2300">
              <a:latin typeface="Times New Roman"/>
              <a:cs typeface="Times New Roman"/>
            </a:endParaRPr>
          </a:p>
          <a:p>
            <a:pPr marL="12700" marR="149860">
              <a:lnSpc>
                <a:spcPct val="100000"/>
              </a:lnSpc>
              <a:buAutoNum type="arabicPeriod"/>
              <a:tabLst>
                <a:tab pos="304165" algn="l"/>
              </a:tabLst>
            </a:pPr>
            <a:r>
              <a:rPr sz="2300" dirty="0">
                <a:latin typeface="Times New Roman"/>
                <a:cs typeface="Times New Roman"/>
              </a:rPr>
              <a:t>Because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it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electrically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"cleaner",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STP</a:t>
            </a:r>
            <a:r>
              <a:rPr sz="2300" spc="-10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wire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carry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data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at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faster </a:t>
            </a:r>
            <a:r>
              <a:rPr sz="2300" spc="-5" dirty="0">
                <a:latin typeface="Times New Roman"/>
                <a:cs typeface="Times New Roman"/>
              </a:rPr>
              <a:t>speed.</a:t>
            </a: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b="1" dirty="0">
                <a:latin typeface="Times New Roman"/>
                <a:cs typeface="Times New Roman"/>
              </a:rPr>
              <a:t>Disadvantages</a:t>
            </a:r>
            <a:r>
              <a:rPr sz="2300" b="1" spc="-80" dirty="0">
                <a:latin typeface="Times New Roman"/>
                <a:cs typeface="Times New Roman"/>
              </a:rPr>
              <a:t> </a:t>
            </a:r>
            <a:r>
              <a:rPr sz="2300" b="1" dirty="0">
                <a:latin typeface="Times New Roman"/>
                <a:cs typeface="Times New Roman"/>
              </a:rPr>
              <a:t>:</a:t>
            </a: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1.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STP</a:t>
            </a:r>
            <a:r>
              <a:rPr sz="2300" spc="-10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wire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 </a:t>
            </a:r>
            <a:r>
              <a:rPr sz="2300" spc="-5" dirty="0">
                <a:latin typeface="Times New Roman"/>
                <a:cs typeface="Times New Roman"/>
              </a:rPr>
              <a:t>that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it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 physically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larger</a:t>
            </a:r>
            <a:r>
              <a:rPr sz="2300" dirty="0">
                <a:latin typeface="Times New Roman"/>
                <a:cs typeface="Times New Roman"/>
              </a:rPr>
              <a:t> and </a:t>
            </a:r>
            <a:r>
              <a:rPr sz="2300" spc="-5" dirty="0">
                <a:latin typeface="Times New Roman"/>
                <a:cs typeface="Times New Roman"/>
              </a:rPr>
              <a:t>more</a:t>
            </a:r>
            <a:r>
              <a:rPr sz="2300" dirty="0">
                <a:latin typeface="Times New Roman"/>
                <a:cs typeface="Times New Roman"/>
              </a:rPr>
              <a:t> expensive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than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twisted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5" dirty="0">
                <a:latin typeface="Times New Roman"/>
                <a:cs typeface="Times New Roman"/>
              </a:rPr>
              <a:t>pair</a:t>
            </a:r>
            <a:r>
              <a:rPr sz="2300" dirty="0">
                <a:latin typeface="Times New Roman"/>
                <a:cs typeface="Times New Roman"/>
              </a:rPr>
              <a:t> wire.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91321" y="6431381"/>
            <a:ext cx="309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888888"/>
                </a:solidFill>
                <a:latin typeface="Arial"/>
                <a:cs typeface="Arial"/>
              </a:rPr>
              <a:t>7.</a:t>
            </a:r>
            <a:r>
              <a:rPr sz="1200" b="1" spc="-65" dirty="0">
                <a:solidFill>
                  <a:srgbClr val="888888"/>
                </a:solidFill>
                <a:latin typeface="Arial"/>
                <a:cs typeface="Arial"/>
              </a:rPr>
              <a:t>11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362" y="1973326"/>
            <a:ext cx="7783701" cy="34686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10004" y="518287"/>
            <a:ext cx="59270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00279F"/>
                </a:solidFill>
                <a:latin typeface="Arial"/>
                <a:cs typeface="Arial"/>
              </a:rPr>
              <a:t>Unshielded</a:t>
            </a:r>
            <a:r>
              <a:rPr sz="3200" spc="-70" dirty="0">
                <a:solidFill>
                  <a:srgbClr val="00279F"/>
                </a:solidFill>
                <a:latin typeface="Arial"/>
                <a:cs typeface="Arial"/>
              </a:rPr>
              <a:t> </a:t>
            </a:r>
            <a:r>
              <a:rPr sz="3200" spc="-20" dirty="0">
                <a:solidFill>
                  <a:srgbClr val="00279F"/>
                </a:solidFill>
                <a:latin typeface="Arial"/>
                <a:cs typeface="Arial"/>
              </a:rPr>
              <a:t>Twisted-Pair</a:t>
            </a:r>
            <a:r>
              <a:rPr sz="3200" spc="-50" dirty="0">
                <a:solidFill>
                  <a:srgbClr val="00279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279F"/>
                </a:solidFill>
                <a:latin typeface="Arial"/>
                <a:cs typeface="Arial"/>
              </a:rPr>
              <a:t>Cable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037" y="2417826"/>
            <a:ext cx="7840850" cy="3700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58058" y="60782"/>
            <a:ext cx="26873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Arial"/>
                <a:cs typeface="Arial"/>
              </a:rPr>
              <a:t>Coaxial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Cable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662" y="1055750"/>
            <a:ext cx="7999601" cy="8812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056208"/>
            <a:ext cx="480504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75" dirty="0">
                <a:latin typeface="Arial"/>
                <a:cs typeface="Arial"/>
              </a:rPr>
              <a:t>Two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kinds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of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coaxial</a:t>
            </a:r>
            <a:r>
              <a:rPr sz="3000" spc="-10" dirty="0">
                <a:latin typeface="Arial"/>
                <a:cs typeface="Arial"/>
              </a:rPr>
              <a:t> </a:t>
            </a:r>
            <a:r>
              <a:rPr sz="3000" spc="-5" dirty="0">
                <a:latin typeface="Arial"/>
                <a:cs typeface="Arial"/>
              </a:rPr>
              <a:t>cable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882521"/>
            <a:ext cx="864870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85215" indent="-3429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kind,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50-ohm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cable,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commonly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when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5" dirty="0">
                <a:latin typeface="Arial MT"/>
                <a:cs typeface="Arial MT"/>
              </a:rPr>
              <a:t> is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intended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spc="-5" dirty="0">
                <a:latin typeface="Arial MT"/>
                <a:cs typeface="Arial MT"/>
              </a:rPr>
              <a:t>digital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transmission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start.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"/>
            </a:pPr>
            <a:endParaRPr sz="2500">
              <a:latin typeface="Arial MT"/>
              <a:cs typeface="Arial MT"/>
            </a:endParaRPr>
          </a:p>
          <a:p>
            <a:pPr marL="355600" marR="273685" indent="-342900">
              <a:lnSpc>
                <a:spcPct val="1000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" dirty="0">
                <a:latin typeface="Arial MT"/>
                <a:cs typeface="Arial MT"/>
              </a:rPr>
              <a:t> other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kind,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75-ohm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cable,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commonly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analog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transmission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cable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television.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"/>
            </a:pPr>
            <a:endParaRPr sz="2500">
              <a:latin typeface="Arial MT"/>
              <a:cs typeface="Arial MT"/>
            </a:endParaRPr>
          </a:p>
          <a:p>
            <a:pPr marL="812800" marR="5080" lvl="1" indent="-343535">
              <a:lnSpc>
                <a:spcPct val="100000"/>
              </a:lnSpc>
              <a:buFont typeface="Wingdings"/>
              <a:buChar char=""/>
              <a:tabLst>
                <a:tab pos="813435" algn="l"/>
              </a:tabLst>
            </a:pPr>
            <a:r>
              <a:rPr sz="2400" spc="-5" dirty="0">
                <a:latin typeface="Arial MT"/>
                <a:cs typeface="Arial MT"/>
              </a:rPr>
              <a:t>Cable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TV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operators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began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provide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Internet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access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cable,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which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made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75-ohm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cable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important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communication.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1224534"/>
            <a:ext cx="827341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bandwidth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Excellent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noise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immunity.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bandwidth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quality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length.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Used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telephone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system,</a:t>
            </a:r>
            <a:r>
              <a:rPr sz="2400" dirty="0">
                <a:latin typeface="Times New Roman"/>
                <a:cs typeface="Times New Roman"/>
              </a:rPr>
              <a:t> cable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television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MAN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long-distance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replaced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</a:t>
            </a:r>
            <a:r>
              <a:rPr sz="2400" spc="-5" dirty="0">
                <a:latin typeface="Times New Roman"/>
                <a:cs typeface="Times New Roman"/>
              </a:rPr>
              <a:t>fiber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optics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long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distance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routes.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31381"/>
            <a:ext cx="324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888888"/>
                </a:solidFill>
                <a:latin typeface="Arial"/>
                <a:cs typeface="Arial"/>
              </a:rPr>
              <a:t>7.16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3994" y="705358"/>
            <a:ext cx="44189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i="1" spc="-5" dirty="0">
                <a:latin typeface="Times New Roman"/>
                <a:cs typeface="Times New Roman"/>
              </a:rPr>
              <a:t>Categories</a:t>
            </a:r>
            <a:r>
              <a:rPr sz="3000" i="1" spc="-25" dirty="0">
                <a:latin typeface="Times New Roman"/>
                <a:cs typeface="Times New Roman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of</a:t>
            </a:r>
            <a:r>
              <a:rPr sz="3000" i="1" spc="-20" dirty="0">
                <a:latin typeface="Times New Roman"/>
                <a:cs typeface="Times New Roman"/>
              </a:rPr>
              <a:t> </a:t>
            </a:r>
            <a:r>
              <a:rPr sz="3000" i="1" dirty="0">
                <a:latin typeface="Times New Roman"/>
                <a:cs typeface="Times New Roman"/>
              </a:rPr>
              <a:t>coaxial cables</a:t>
            </a:r>
            <a:endParaRPr sz="3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174" y="2427303"/>
            <a:ext cx="5728546" cy="18790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4594" y="95503"/>
            <a:ext cx="34740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Optical</a:t>
            </a:r>
            <a:r>
              <a:rPr sz="3200" spc="-75" dirty="0"/>
              <a:t> </a:t>
            </a:r>
            <a:r>
              <a:rPr sz="3200" dirty="0"/>
              <a:t>Fiber</a:t>
            </a:r>
            <a:r>
              <a:rPr sz="3200" spc="-80" dirty="0"/>
              <a:t> </a:t>
            </a:r>
            <a:r>
              <a:rPr sz="3200" dirty="0"/>
              <a:t>Cable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21691" y="783081"/>
            <a:ext cx="7729220" cy="4462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/>
                <a:cs typeface="Times New Roman"/>
              </a:rPr>
              <a:t>Optical </a:t>
            </a:r>
            <a:r>
              <a:rPr sz="2800" dirty="0">
                <a:latin typeface="Times New Roman"/>
                <a:cs typeface="Times New Roman"/>
              </a:rPr>
              <a:t>Fiber </a:t>
            </a:r>
            <a:r>
              <a:rPr sz="2800" spc="-5" dirty="0">
                <a:latin typeface="Times New Roman"/>
                <a:cs typeface="Times New Roman"/>
              </a:rPr>
              <a:t>is a glass or plastic cable that </a:t>
            </a:r>
            <a:r>
              <a:rPr sz="2800" spc="-10" dirty="0">
                <a:latin typeface="Times New Roman"/>
                <a:cs typeface="Times New Roman"/>
              </a:rPr>
              <a:t>accept </a:t>
            </a:r>
            <a:r>
              <a:rPr sz="2800" spc="-5" dirty="0">
                <a:latin typeface="Times New Roman"/>
                <a:cs typeface="Times New Roman"/>
              </a:rPr>
              <a:t>and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transport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signals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form</a:t>
            </a:r>
            <a:r>
              <a:rPr sz="2800" spc="-5" dirty="0">
                <a:latin typeface="Times New Roman"/>
                <a:cs typeface="Times New Roman"/>
              </a:rPr>
              <a:t> of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Light.</a:t>
            </a:r>
            <a:endParaRPr sz="2800">
              <a:latin typeface="Times New Roman"/>
              <a:cs typeface="Times New Roman"/>
            </a:endParaRPr>
          </a:p>
          <a:p>
            <a:pPr marL="402590">
              <a:lnSpc>
                <a:spcPct val="100000"/>
              </a:lnSpc>
              <a:spcBef>
                <a:spcPts val="2295"/>
              </a:spcBef>
            </a:pPr>
            <a:r>
              <a:rPr sz="2400" spc="-5" dirty="0">
                <a:latin typeface="Times New Roman"/>
                <a:cs typeface="Times New Roman"/>
              </a:rPr>
              <a:t>Advantages:</a:t>
            </a:r>
            <a:endParaRPr sz="2400">
              <a:latin typeface="Times New Roman"/>
              <a:cs typeface="Times New Roman"/>
            </a:endParaRPr>
          </a:p>
          <a:p>
            <a:pPr marL="860425" indent="-45847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860425" algn="l"/>
                <a:tab pos="861060" algn="l"/>
              </a:tabLst>
            </a:pPr>
            <a:r>
              <a:rPr sz="2400" spc="-5" dirty="0">
                <a:latin typeface="Times New Roman"/>
                <a:cs typeface="Times New Roman"/>
              </a:rPr>
              <a:t>Noise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Resistance</a:t>
            </a:r>
            <a:endParaRPr sz="2400">
              <a:latin typeface="Times New Roman"/>
              <a:cs typeface="Times New Roman"/>
            </a:endParaRPr>
          </a:p>
          <a:p>
            <a:pPr marL="860425" indent="-458470">
              <a:lnSpc>
                <a:spcPct val="100000"/>
              </a:lnSpc>
              <a:buFont typeface="Wingdings"/>
              <a:buChar char=""/>
              <a:tabLst>
                <a:tab pos="860425" algn="l"/>
                <a:tab pos="861060" algn="l"/>
              </a:tabLst>
            </a:pPr>
            <a:r>
              <a:rPr sz="2400" spc="-5" dirty="0">
                <a:latin typeface="Times New Roman"/>
                <a:cs typeface="Times New Roman"/>
              </a:rPr>
              <a:t>Less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Attenuation</a:t>
            </a:r>
            <a:endParaRPr sz="2400">
              <a:latin typeface="Times New Roman"/>
              <a:cs typeface="Times New Roman"/>
            </a:endParaRPr>
          </a:p>
          <a:p>
            <a:pPr marL="860425" indent="-458470">
              <a:lnSpc>
                <a:spcPct val="100000"/>
              </a:lnSpc>
              <a:buFont typeface="Wingdings"/>
              <a:buChar char=""/>
              <a:tabLst>
                <a:tab pos="860425" algn="l"/>
                <a:tab pos="861060" algn="l"/>
              </a:tabLst>
            </a:pPr>
            <a:r>
              <a:rPr sz="2400" dirty="0">
                <a:latin typeface="Times New Roman"/>
                <a:cs typeface="Times New Roman"/>
              </a:rPr>
              <a:t>Higher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BW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"/>
            </a:pPr>
            <a:endParaRPr sz="2500">
              <a:latin typeface="Times New Roman"/>
              <a:cs typeface="Times New Roman"/>
            </a:endParaRPr>
          </a:p>
          <a:p>
            <a:pPr marL="40259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Disadvantages:</a:t>
            </a:r>
            <a:endParaRPr sz="2400">
              <a:latin typeface="Times New Roman"/>
              <a:cs typeface="Times New Roman"/>
            </a:endParaRPr>
          </a:p>
          <a:p>
            <a:pPr marL="860425" indent="-458470">
              <a:lnSpc>
                <a:spcPct val="100000"/>
              </a:lnSpc>
              <a:buFont typeface="Wingdings"/>
              <a:buChar char=""/>
              <a:tabLst>
                <a:tab pos="860425" algn="l"/>
                <a:tab pos="861060" algn="l"/>
              </a:tabLst>
            </a:pPr>
            <a:r>
              <a:rPr sz="2400" dirty="0">
                <a:latin typeface="Times New Roman"/>
                <a:cs typeface="Times New Roman"/>
              </a:rPr>
              <a:t>Cost</a:t>
            </a:r>
            <a:endParaRPr sz="2400">
              <a:latin typeface="Times New Roman"/>
              <a:cs typeface="Times New Roman"/>
            </a:endParaRPr>
          </a:p>
          <a:p>
            <a:pPr marL="860425" indent="-458470">
              <a:lnSpc>
                <a:spcPct val="100000"/>
              </a:lnSpc>
              <a:buFont typeface="Wingdings"/>
              <a:buChar char=""/>
              <a:tabLst>
                <a:tab pos="860425" algn="l"/>
                <a:tab pos="861060" algn="l"/>
              </a:tabLst>
            </a:pPr>
            <a:r>
              <a:rPr sz="2400" spc="-5" dirty="0">
                <a:latin typeface="Times New Roman"/>
                <a:cs typeface="Times New Roman"/>
              </a:rPr>
              <a:t>Installation/Maintenance</a:t>
            </a:r>
            <a:endParaRPr sz="2400">
              <a:latin typeface="Times New Roman"/>
              <a:cs typeface="Times New Roman"/>
            </a:endParaRPr>
          </a:p>
          <a:p>
            <a:pPr marL="860425" indent="-458470">
              <a:lnSpc>
                <a:spcPct val="100000"/>
              </a:lnSpc>
              <a:buFont typeface="Wingdings"/>
              <a:buChar char=""/>
              <a:tabLst>
                <a:tab pos="860425" algn="l"/>
                <a:tab pos="861060" algn="l"/>
              </a:tabLst>
            </a:pPr>
            <a:r>
              <a:rPr sz="2400" dirty="0">
                <a:latin typeface="Times New Roman"/>
                <a:cs typeface="Times New Roman"/>
              </a:rPr>
              <a:t>Fragility(Broken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Wire)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550" y="2362073"/>
            <a:ext cx="8070850" cy="22247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1175" y="549605"/>
            <a:ext cx="26606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/>
                <a:cs typeface="Times New Roman"/>
              </a:rPr>
              <a:t>Optical</a:t>
            </a:r>
            <a:r>
              <a:rPr sz="4000" i="1" spc="-65" dirty="0">
                <a:latin typeface="Times New Roman"/>
                <a:cs typeface="Times New Roman"/>
              </a:rPr>
              <a:t> </a:t>
            </a:r>
            <a:r>
              <a:rPr sz="4000" i="1" spc="-5" dirty="0">
                <a:latin typeface="Times New Roman"/>
                <a:cs typeface="Times New Roman"/>
              </a:rPr>
              <a:t>fiber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360" y="2987675"/>
            <a:ext cx="8303439" cy="15843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0"/>
            <a:ext cx="9156700" cy="1384300"/>
            <a:chOff x="-6350" y="0"/>
            <a:chExt cx="9156700" cy="13843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1371600"/>
            </a:xfrm>
            <a:custGeom>
              <a:avLst/>
              <a:gdLst/>
              <a:ahLst/>
              <a:cxnLst/>
              <a:rect l="l" t="t" r="r" b="b"/>
              <a:pathLst>
                <a:path w="9144000" h="1371600">
                  <a:moveTo>
                    <a:pt x="9144000" y="0"/>
                  </a:moveTo>
                  <a:lnTo>
                    <a:pt x="0" y="0"/>
                  </a:lnTo>
                  <a:lnTo>
                    <a:pt x="0" y="1371600"/>
                  </a:lnTo>
                  <a:lnTo>
                    <a:pt x="9144000" y="1371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1371600"/>
            </a:xfrm>
            <a:custGeom>
              <a:avLst/>
              <a:gdLst/>
              <a:ahLst/>
              <a:cxnLst/>
              <a:rect l="l" t="t" r="r" b="b"/>
              <a:pathLst>
                <a:path w="9144000" h="1371600">
                  <a:moveTo>
                    <a:pt x="0" y="1371600"/>
                  </a:moveTo>
                  <a:lnTo>
                    <a:pt x="9144000" y="13716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71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56" y="323088"/>
              <a:ext cx="5458968" cy="65989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7340" y="451865"/>
            <a:ext cx="49396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10" dirty="0">
                <a:solidFill>
                  <a:srgbClr val="000000"/>
                </a:solidFill>
                <a:latin typeface="SimSun-ExtB"/>
                <a:cs typeface="SimSun-ExtB"/>
              </a:rPr>
              <a:t>UNGUIDED</a:t>
            </a:r>
            <a:r>
              <a:rPr sz="3200" b="0" spc="-60" dirty="0">
                <a:solidFill>
                  <a:srgbClr val="000000"/>
                </a:solidFill>
                <a:latin typeface="SimSun-ExtB"/>
                <a:cs typeface="SimSun-ExtB"/>
              </a:rPr>
              <a:t> </a:t>
            </a:r>
            <a:r>
              <a:rPr sz="3200" b="0" spc="10" dirty="0">
                <a:solidFill>
                  <a:srgbClr val="000000"/>
                </a:solidFill>
                <a:latin typeface="SimSun-ExtB"/>
                <a:cs typeface="SimSun-ExtB"/>
              </a:rPr>
              <a:t>MEDIA:</a:t>
            </a:r>
            <a:r>
              <a:rPr sz="3200" b="0" spc="-35" dirty="0">
                <a:solidFill>
                  <a:srgbClr val="000000"/>
                </a:solidFill>
                <a:latin typeface="SimSun-ExtB"/>
                <a:cs typeface="SimSun-ExtB"/>
              </a:rPr>
              <a:t> </a:t>
            </a:r>
            <a:r>
              <a:rPr sz="3200" b="0" spc="15" dirty="0">
                <a:solidFill>
                  <a:srgbClr val="000000"/>
                </a:solidFill>
                <a:latin typeface="SimSun-ExtB"/>
                <a:cs typeface="SimSun-ExtB"/>
              </a:rPr>
              <a:t>WIRELESS</a:t>
            </a:r>
            <a:endParaRPr sz="3200">
              <a:latin typeface="SimSun-ExtB"/>
              <a:cs typeface="SimSun-ExtB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5260" y="1316736"/>
            <a:ext cx="8521065" cy="1864360"/>
            <a:chOff x="175260" y="1316736"/>
            <a:chExt cx="8521065" cy="18643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60" y="1316736"/>
              <a:ext cx="1918716" cy="5836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2620" y="1316736"/>
              <a:ext cx="1363980" cy="5836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95243" y="1316736"/>
              <a:ext cx="1818132" cy="5836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2019" y="1316736"/>
              <a:ext cx="2804160" cy="5836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53300" y="1316736"/>
              <a:ext cx="1342644" cy="5836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5260" y="1743455"/>
              <a:ext cx="1583436" cy="5836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19427" y="1743455"/>
              <a:ext cx="1287780" cy="5836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67939" y="1743455"/>
              <a:ext cx="653795" cy="5836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82467" y="1743455"/>
              <a:ext cx="1679448" cy="5836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22648" y="1743455"/>
              <a:ext cx="1937003" cy="5836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84163" y="1743455"/>
              <a:ext cx="562356" cy="5836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07251" y="1743455"/>
              <a:ext cx="1127759" cy="58369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95743" y="1743455"/>
              <a:ext cx="1066800" cy="5836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923276" y="1743455"/>
              <a:ext cx="772668" cy="5836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5260" y="2170175"/>
              <a:ext cx="2766060" cy="58369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770632" y="2170175"/>
              <a:ext cx="711707" cy="58369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11652" y="2170175"/>
              <a:ext cx="1226820" cy="58369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367783" y="2170175"/>
              <a:ext cx="1659636" cy="58369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856731" y="2170175"/>
              <a:ext cx="751332" cy="58369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437375" y="2170175"/>
              <a:ext cx="792479" cy="58369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059167" y="2170175"/>
              <a:ext cx="1636776" cy="58369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5260" y="2596896"/>
              <a:ext cx="2767584" cy="58369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467355" y="2596896"/>
              <a:ext cx="563880" cy="583691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83540" y="1407922"/>
            <a:ext cx="69107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50060" algn="l"/>
                <a:tab pos="2933065" algn="l"/>
                <a:tab pos="456946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Unguided	media	transport	electromagnetic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979166" y="1834642"/>
            <a:ext cx="144081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2090">
              <a:lnSpc>
                <a:spcPct val="100000"/>
              </a:lnSpc>
              <a:spcBef>
                <a:spcPts val="95"/>
              </a:spcBef>
              <a:tabLst>
                <a:tab pos="55372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physical  is	often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76698" y="1834642"/>
            <a:ext cx="251650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4610">
              <a:lnSpc>
                <a:spcPct val="100000"/>
              </a:lnSpc>
              <a:spcBef>
                <a:spcPts val="95"/>
              </a:spcBef>
              <a:tabLst>
                <a:tab pos="1501775" algn="l"/>
                <a:tab pos="1852295" algn="l"/>
                <a:tab pos="2082164" algn="l"/>
              </a:tabLst>
            </a:pPr>
            <a:r>
              <a:rPr sz="2800" b="1" i="1" spc="-25" dirty="0">
                <a:latin typeface="Times New Roman"/>
                <a:cs typeface="Times New Roman"/>
              </a:rPr>
              <a:t>c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-5" dirty="0">
                <a:latin typeface="Times New Roman"/>
                <a:cs typeface="Times New Roman"/>
              </a:rPr>
              <a:t>d</a:t>
            </a:r>
            <a:r>
              <a:rPr sz="2800" b="1" i="1" dirty="0">
                <a:latin typeface="Times New Roman"/>
                <a:cs typeface="Times New Roman"/>
              </a:rPr>
              <a:t>u</a:t>
            </a:r>
            <a:r>
              <a:rPr sz="2800" b="1" i="1" spc="-5" dirty="0">
                <a:latin typeface="Times New Roman"/>
                <a:cs typeface="Times New Roman"/>
              </a:rPr>
              <a:t>cto</a:t>
            </a:r>
            <a:r>
              <a:rPr sz="2800" b="1" i="1" spc="-150" dirty="0">
                <a:latin typeface="Times New Roman"/>
                <a:cs typeface="Times New Roman"/>
              </a:rPr>
              <a:t>r</a:t>
            </a:r>
            <a:r>
              <a:rPr sz="2800" b="1" i="1" spc="-5" dirty="0">
                <a:latin typeface="Times New Roman"/>
                <a:cs typeface="Times New Roman"/>
              </a:rPr>
              <a:t>.</a:t>
            </a:r>
            <a:r>
              <a:rPr sz="2800" b="1" i="1" dirty="0">
                <a:latin typeface="Times New Roman"/>
                <a:cs typeface="Times New Roman"/>
              </a:rPr>
              <a:t>	</a:t>
            </a:r>
            <a:r>
              <a:rPr sz="2800" b="1" i="1" spc="-5" dirty="0">
                <a:latin typeface="Times New Roman"/>
                <a:cs typeface="Times New Roman"/>
              </a:rPr>
              <a:t>This  referred	</a:t>
            </a:r>
            <a:r>
              <a:rPr sz="2800" b="1" i="1" spc="-10" dirty="0">
                <a:latin typeface="Times New Roman"/>
                <a:cs typeface="Times New Roman"/>
              </a:rPr>
              <a:t>to		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268718" y="1407922"/>
            <a:ext cx="118745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94005" algn="just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wav</a:t>
            </a:r>
            <a:r>
              <a:rPr sz="2800" b="1" i="1" spc="-15" dirty="0">
                <a:latin typeface="Times New Roman"/>
                <a:cs typeface="Times New Roman"/>
              </a:rPr>
              <a:t>e</a:t>
            </a:r>
            <a:r>
              <a:rPr sz="2800" b="1" i="1" spc="-5" dirty="0">
                <a:latin typeface="Times New Roman"/>
                <a:cs typeface="Times New Roman"/>
              </a:rPr>
              <a:t>s  type</a:t>
            </a:r>
            <a:r>
              <a:rPr sz="2800" b="1" i="1" dirty="0">
                <a:latin typeface="Times New Roman"/>
                <a:cs typeface="Times New Roman"/>
              </a:rPr>
              <a:t> of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i="1" spc="-20" dirty="0">
                <a:latin typeface="Times New Roman"/>
                <a:cs typeface="Times New Roman"/>
              </a:rPr>
              <a:t>i</a:t>
            </a:r>
            <a:r>
              <a:rPr sz="2800" b="1" i="1" spc="-5" dirty="0">
                <a:latin typeface="Times New Roman"/>
                <a:cs typeface="Times New Roman"/>
              </a:rPr>
              <a:t>reless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3540" y="1834642"/>
            <a:ext cx="259588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356995" algn="l"/>
                <a:tab pos="240538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with</a:t>
            </a:r>
            <a:r>
              <a:rPr sz="2800" b="1" i="1" dirty="0">
                <a:latin typeface="Times New Roman"/>
                <a:cs typeface="Times New Roman"/>
              </a:rPr>
              <a:t>o</a:t>
            </a:r>
            <a:r>
              <a:rPr sz="2800" b="1" i="1" spc="-5" dirty="0">
                <a:latin typeface="Times New Roman"/>
                <a:cs typeface="Times New Roman"/>
              </a:rPr>
              <a:t>ut</a:t>
            </a:r>
            <a:r>
              <a:rPr sz="2800" b="1" i="1" dirty="0">
                <a:latin typeface="Times New Roman"/>
                <a:cs typeface="Times New Roman"/>
              </a:rPr>
              <a:t>	</a:t>
            </a:r>
            <a:r>
              <a:rPr sz="2800" b="1" i="1" spc="-5" dirty="0">
                <a:latin typeface="Times New Roman"/>
                <a:cs typeface="Times New Roman"/>
              </a:rPr>
              <a:t>u</a:t>
            </a:r>
            <a:r>
              <a:rPr sz="2800" b="1" i="1" dirty="0">
                <a:latin typeface="Times New Roman"/>
                <a:cs typeface="Times New Roman"/>
              </a:rPr>
              <a:t>s</a:t>
            </a:r>
            <a:r>
              <a:rPr sz="2800" b="1" i="1" spc="-5" dirty="0">
                <a:latin typeface="Times New Roman"/>
                <a:cs typeface="Times New Roman"/>
              </a:rPr>
              <a:t>ing</a:t>
            </a:r>
            <a:r>
              <a:rPr sz="2800" b="1" i="1" dirty="0">
                <a:latin typeface="Times New Roman"/>
                <a:cs typeface="Times New Roman"/>
              </a:rPr>
              <a:t>	</a:t>
            </a:r>
            <a:r>
              <a:rPr sz="2800" b="1" i="1" spc="-5" dirty="0">
                <a:latin typeface="Times New Roman"/>
                <a:cs typeface="Times New Roman"/>
              </a:rPr>
              <a:t>a  communication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communication.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1371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5615" y="705358"/>
            <a:ext cx="85966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i="1" spc="-5" dirty="0">
                <a:latin typeface="Times New Roman"/>
                <a:cs typeface="Times New Roman"/>
              </a:rPr>
              <a:t>Electromagnetic</a:t>
            </a:r>
            <a:r>
              <a:rPr sz="3000" i="1" spc="40" dirty="0">
                <a:latin typeface="Times New Roman"/>
                <a:cs typeface="Times New Roman"/>
              </a:rPr>
              <a:t> </a:t>
            </a:r>
            <a:r>
              <a:rPr sz="3000" i="1" spc="-5" dirty="0">
                <a:latin typeface="Times New Roman"/>
                <a:cs typeface="Times New Roman"/>
              </a:rPr>
              <a:t>spectrum</a:t>
            </a:r>
            <a:r>
              <a:rPr sz="3000" i="1" spc="30" dirty="0">
                <a:latin typeface="Times New Roman"/>
                <a:cs typeface="Times New Roman"/>
              </a:rPr>
              <a:t> </a:t>
            </a:r>
            <a:r>
              <a:rPr sz="3000" i="1" spc="-5" dirty="0">
                <a:latin typeface="Times New Roman"/>
                <a:cs typeface="Times New Roman"/>
              </a:rPr>
              <a:t>for wireless</a:t>
            </a:r>
            <a:r>
              <a:rPr sz="3000" i="1" spc="25" dirty="0">
                <a:latin typeface="Times New Roman"/>
                <a:cs typeface="Times New Roman"/>
              </a:rPr>
              <a:t> </a:t>
            </a:r>
            <a:r>
              <a:rPr sz="3000" i="1" spc="-5" dirty="0">
                <a:latin typeface="Times New Roman"/>
                <a:cs typeface="Times New Roman"/>
              </a:rPr>
              <a:t>communication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163" y="2590800"/>
            <a:ext cx="8384436" cy="207774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7404" y="461594"/>
            <a:ext cx="49523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Propagation</a:t>
            </a:r>
            <a:r>
              <a:rPr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libri"/>
                <a:cs typeface="Calibri"/>
              </a:rPr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0635"/>
            <a:ext cx="4547870" cy="178181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Ground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Propagation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Sky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Propagation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Line-of-Sight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Propagation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83702" y="6431381"/>
            <a:ext cx="324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888888"/>
                </a:solidFill>
                <a:latin typeface="Arial"/>
                <a:cs typeface="Arial"/>
              </a:rPr>
              <a:t>7.22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8905" y="397205"/>
            <a:ext cx="13519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/>
                <a:cs typeface="Times New Roman"/>
              </a:rPr>
              <a:t>Bands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717" y="1247278"/>
            <a:ext cx="7513818" cy="461176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9700" y="702310"/>
            <a:ext cx="8788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75740" algn="l"/>
                <a:tab pos="8775065" algn="l"/>
              </a:tabLst>
            </a:pPr>
            <a:r>
              <a:rPr sz="4000" i="1" u="heavy" spc="-5" dirty="0"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4000" i="1" u="heavy" spc="-20" dirty="0"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Wireless</a:t>
            </a:r>
            <a:r>
              <a:rPr sz="4000" i="1" u="heavy" spc="-30" dirty="0"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i="1" u="heavy" dirty="0"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transmission</a:t>
            </a:r>
            <a:r>
              <a:rPr sz="4000" i="1" u="heavy" spc="-20" dirty="0"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i="1" u="heavy" spc="-5" dirty="0"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waves	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437" y="2043048"/>
            <a:ext cx="8239125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593455" cy="1052830"/>
            <a:chOff x="76200" y="63"/>
            <a:chExt cx="8593455" cy="1052830"/>
          </a:xfrm>
        </p:grpSpPr>
        <p:sp>
          <p:nvSpPr>
            <p:cNvPr id="3" name="object 3"/>
            <p:cNvSpPr/>
            <p:nvPr/>
          </p:nvSpPr>
          <p:spPr>
            <a:xfrm>
              <a:off x="366712" y="108013"/>
              <a:ext cx="382905" cy="474980"/>
            </a:xfrm>
            <a:custGeom>
              <a:avLst/>
              <a:gdLst/>
              <a:ahLst/>
              <a:cxnLst/>
              <a:rect l="l" t="t" r="r" b="b"/>
              <a:pathLst>
                <a:path w="382905" h="474980">
                  <a:moveTo>
                    <a:pt x="382587" y="0"/>
                  </a:moveTo>
                  <a:lnTo>
                    <a:pt x="0" y="0"/>
                  </a:lnTo>
                  <a:lnTo>
                    <a:pt x="0" y="349186"/>
                  </a:lnTo>
                  <a:lnTo>
                    <a:pt x="0" y="474662"/>
                  </a:lnTo>
                  <a:lnTo>
                    <a:pt x="382587" y="474662"/>
                  </a:lnTo>
                  <a:lnTo>
                    <a:pt x="382587" y="349186"/>
                  </a:lnTo>
                  <a:lnTo>
                    <a:pt x="38258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300" y="108013"/>
              <a:ext cx="328612" cy="4746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90537" y="530288"/>
              <a:ext cx="370205" cy="474980"/>
            </a:xfrm>
            <a:custGeom>
              <a:avLst/>
              <a:gdLst/>
              <a:ahLst/>
              <a:cxnLst/>
              <a:rect l="l" t="t" r="r" b="b"/>
              <a:pathLst>
                <a:path w="370205" h="474980">
                  <a:moveTo>
                    <a:pt x="369887" y="0"/>
                  </a:moveTo>
                  <a:lnTo>
                    <a:pt x="0" y="0"/>
                  </a:lnTo>
                  <a:lnTo>
                    <a:pt x="0" y="349186"/>
                  </a:lnTo>
                  <a:lnTo>
                    <a:pt x="0" y="474662"/>
                  </a:lnTo>
                  <a:lnTo>
                    <a:pt x="369887" y="474662"/>
                  </a:lnTo>
                  <a:lnTo>
                    <a:pt x="369887" y="349186"/>
                  </a:lnTo>
                  <a:lnTo>
                    <a:pt x="369887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425" y="530288"/>
              <a:ext cx="368300" cy="4746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457199"/>
              <a:ext cx="560387" cy="4222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1200" y="63"/>
              <a:ext cx="31750" cy="1052830"/>
            </a:xfrm>
            <a:custGeom>
              <a:avLst/>
              <a:gdLst/>
              <a:ahLst/>
              <a:cxnLst/>
              <a:rect l="l" t="t" r="r" b="b"/>
              <a:pathLst>
                <a:path w="31750" h="1052830">
                  <a:moveTo>
                    <a:pt x="31750" y="565086"/>
                  </a:moveTo>
                  <a:lnTo>
                    <a:pt x="0" y="565086"/>
                  </a:lnTo>
                  <a:lnTo>
                    <a:pt x="0" y="1052512"/>
                  </a:lnTo>
                  <a:lnTo>
                    <a:pt x="31750" y="1052512"/>
                  </a:lnTo>
                  <a:lnTo>
                    <a:pt x="31750" y="565086"/>
                  </a:lnTo>
                  <a:close/>
                </a:path>
                <a:path w="31750" h="105283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457200" y="26670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7043" y="4381500"/>
            <a:ext cx="0" cy="76200"/>
          </a:xfrm>
          <a:custGeom>
            <a:avLst/>
            <a:gdLst/>
            <a:ahLst/>
            <a:cxnLst/>
            <a:rect l="l" t="t" r="r" b="b"/>
            <a:pathLst>
              <a:path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ln w="36512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495300" y="2771775"/>
            <a:ext cx="8115934" cy="2554605"/>
            <a:chOff x="495300" y="2771775"/>
            <a:chExt cx="8115934" cy="2554605"/>
          </a:xfrm>
        </p:grpSpPr>
        <p:sp>
          <p:nvSpPr>
            <p:cNvPr id="13" name="object 13"/>
            <p:cNvSpPr/>
            <p:nvPr/>
          </p:nvSpPr>
          <p:spPr>
            <a:xfrm>
              <a:off x="8592375" y="4381500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ln w="36512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5300" y="2771775"/>
              <a:ext cx="8077200" cy="2554605"/>
            </a:xfrm>
            <a:custGeom>
              <a:avLst/>
              <a:gdLst/>
              <a:ahLst/>
              <a:cxnLst/>
              <a:rect l="l" t="t" r="r" b="b"/>
              <a:pathLst>
                <a:path w="8077200" h="2554604">
                  <a:moveTo>
                    <a:pt x="8077200" y="0"/>
                  </a:moveTo>
                  <a:lnTo>
                    <a:pt x="0" y="0"/>
                  </a:lnTo>
                  <a:lnTo>
                    <a:pt x="0" y="2554351"/>
                  </a:lnTo>
                  <a:lnTo>
                    <a:pt x="8077200" y="2554351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74040" y="2793238"/>
            <a:ext cx="6924040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Arial"/>
                <a:cs typeface="Arial"/>
              </a:rPr>
              <a:t>Radio </a:t>
            </a:r>
            <a:r>
              <a:rPr sz="3200" b="1" spc="-5" dirty="0">
                <a:latin typeface="Arial"/>
                <a:cs typeface="Arial"/>
              </a:rPr>
              <a:t>waves </a:t>
            </a:r>
            <a:r>
              <a:rPr sz="3200" b="1" dirty="0">
                <a:latin typeface="Arial"/>
                <a:cs typeface="Arial"/>
              </a:rPr>
              <a:t>are </a:t>
            </a:r>
            <a:r>
              <a:rPr sz="3200" b="1" spc="-5" dirty="0">
                <a:latin typeface="Arial"/>
                <a:cs typeface="Arial"/>
              </a:rPr>
              <a:t>used </a:t>
            </a:r>
            <a:r>
              <a:rPr sz="3200" b="1" dirty="0">
                <a:latin typeface="Arial"/>
                <a:cs typeface="Arial"/>
              </a:rPr>
              <a:t>for </a:t>
            </a:r>
            <a:r>
              <a:rPr sz="3200" b="1" spc="-5" dirty="0">
                <a:latin typeface="Arial"/>
                <a:cs typeface="Arial"/>
              </a:rPr>
              <a:t>multicast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communications,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such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as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radio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and </a:t>
            </a:r>
            <a:r>
              <a:rPr sz="3200" b="1" spc="-88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television.</a:t>
            </a:r>
            <a:endParaRPr sz="3200">
              <a:latin typeface="Arial"/>
              <a:cs typeface="Arial"/>
            </a:endParaRPr>
          </a:p>
          <a:p>
            <a:pPr marL="12700" marR="344805" algn="just">
              <a:lnSpc>
                <a:spcPct val="100000"/>
              </a:lnSpc>
            </a:pPr>
            <a:r>
              <a:rPr sz="3200" b="1" dirty="0">
                <a:latin typeface="Arial"/>
                <a:cs typeface="Arial"/>
              </a:rPr>
              <a:t>They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can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penetrate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through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walls. </a:t>
            </a:r>
            <a:r>
              <a:rPr sz="3200" b="1" spc="-88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Use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Omni</a:t>
            </a:r>
            <a:r>
              <a:rPr sz="3200" b="1" spc="-5" dirty="0">
                <a:latin typeface="Arial"/>
                <a:cs typeface="Arial"/>
              </a:rPr>
              <a:t> directional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antennas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" y="2024062"/>
            <a:ext cx="1143000" cy="566737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669442" y="2045335"/>
            <a:ext cx="715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1371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540" y="786130"/>
            <a:ext cx="26682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Omnidirectional</a:t>
            </a:r>
            <a:r>
              <a:rPr sz="2000" i="1" spc="-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antenna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1951" y="2040001"/>
            <a:ext cx="3205846" cy="366849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593455" cy="1052830"/>
            <a:chOff x="76200" y="63"/>
            <a:chExt cx="8593455" cy="1052830"/>
          </a:xfrm>
        </p:grpSpPr>
        <p:sp>
          <p:nvSpPr>
            <p:cNvPr id="3" name="object 3"/>
            <p:cNvSpPr/>
            <p:nvPr/>
          </p:nvSpPr>
          <p:spPr>
            <a:xfrm>
              <a:off x="366712" y="108013"/>
              <a:ext cx="382905" cy="474980"/>
            </a:xfrm>
            <a:custGeom>
              <a:avLst/>
              <a:gdLst/>
              <a:ahLst/>
              <a:cxnLst/>
              <a:rect l="l" t="t" r="r" b="b"/>
              <a:pathLst>
                <a:path w="382905" h="474980">
                  <a:moveTo>
                    <a:pt x="382587" y="0"/>
                  </a:moveTo>
                  <a:lnTo>
                    <a:pt x="0" y="0"/>
                  </a:lnTo>
                  <a:lnTo>
                    <a:pt x="0" y="349186"/>
                  </a:lnTo>
                  <a:lnTo>
                    <a:pt x="0" y="474662"/>
                  </a:lnTo>
                  <a:lnTo>
                    <a:pt x="382587" y="474662"/>
                  </a:lnTo>
                  <a:lnTo>
                    <a:pt x="382587" y="349186"/>
                  </a:lnTo>
                  <a:lnTo>
                    <a:pt x="38258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300" y="108013"/>
              <a:ext cx="328612" cy="4746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90537" y="530288"/>
              <a:ext cx="370205" cy="474980"/>
            </a:xfrm>
            <a:custGeom>
              <a:avLst/>
              <a:gdLst/>
              <a:ahLst/>
              <a:cxnLst/>
              <a:rect l="l" t="t" r="r" b="b"/>
              <a:pathLst>
                <a:path w="370205" h="474980">
                  <a:moveTo>
                    <a:pt x="369887" y="0"/>
                  </a:moveTo>
                  <a:lnTo>
                    <a:pt x="0" y="0"/>
                  </a:lnTo>
                  <a:lnTo>
                    <a:pt x="0" y="349186"/>
                  </a:lnTo>
                  <a:lnTo>
                    <a:pt x="0" y="474662"/>
                  </a:lnTo>
                  <a:lnTo>
                    <a:pt x="369887" y="474662"/>
                  </a:lnTo>
                  <a:lnTo>
                    <a:pt x="369887" y="349186"/>
                  </a:lnTo>
                  <a:lnTo>
                    <a:pt x="369887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425" y="530288"/>
              <a:ext cx="368300" cy="4746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457199"/>
              <a:ext cx="560387" cy="4222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1200" y="63"/>
              <a:ext cx="31750" cy="1052830"/>
            </a:xfrm>
            <a:custGeom>
              <a:avLst/>
              <a:gdLst/>
              <a:ahLst/>
              <a:cxnLst/>
              <a:rect l="l" t="t" r="r" b="b"/>
              <a:pathLst>
                <a:path w="31750" h="1052830">
                  <a:moveTo>
                    <a:pt x="31750" y="565086"/>
                  </a:moveTo>
                  <a:lnTo>
                    <a:pt x="0" y="565086"/>
                  </a:lnTo>
                  <a:lnTo>
                    <a:pt x="0" y="1052512"/>
                  </a:lnTo>
                  <a:lnTo>
                    <a:pt x="31750" y="1052512"/>
                  </a:lnTo>
                  <a:lnTo>
                    <a:pt x="31750" y="565086"/>
                  </a:lnTo>
                  <a:close/>
                </a:path>
                <a:path w="31750" h="105283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457200" y="2395601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495300" y="2487612"/>
            <a:ext cx="8191500" cy="3540125"/>
            <a:chOff x="495300" y="2487612"/>
            <a:chExt cx="8191500" cy="3540125"/>
          </a:xfrm>
        </p:grpSpPr>
        <p:sp>
          <p:nvSpPr>
            <p:cNvPr id="12" name="object 12"/>
            <p:cNvSpPr/>
            <p:nvPr/>
          </p:nvSpPr>
          <p:spPr>
            <a:xfrm>
              <a:off x="8572500" y="5138673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ln w="76200">
              <a:solidFill>
                <a:srgbClr val="00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300" y="2487612"/>
              <a:ext cx="8077200" cy="3540125"/>
            </a:xfrm>
            <a:custGeom>
              <a:avLst/>
              <a:gdLst/>
              <a:ahLst/>
              <a:cxnLst/>
              <a:rect l="l" t="t" r="r" b="b"/>
              <a:pathLst>
                <a:path w="8077200" h="3540125">
                  <a:moveTo>
                    <a:pt x="8077200" y="0"/>
                  </a:moveTo>
                  <a:lnTo>
                    <a:pt x="0" y="0"/>
                  </a:lnTo>
                  <a:lnTo>
                    <a:pt x="0" y="3540125"/>
                  </a:lnTo>
                  <a:lnTo>
                    <a:pt x="8077200" y="3540125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" y="1752536"/>
            <a:ext cx="1143000" cy="56673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74040" y="1773681"/>
            <a:ext cx="7778750" cy="4175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  <a:p>
            <a:pPr marL="12700" marR="1489710" algn="just">
              <a:lnSpc>
                <a:spcPct val="100000"/>
              </a:lnSpc>
              <a:spcBef>
                <a:spcPts val="2435"/>
              </a:spcBef>
            </a:pPr>
            <a:r>
              <a:rPr sz="3200" b="1" spc="-5" dirty="0">
                <a:latin typeface="Arial"/>
                <a:cs typeface="Arial"/>
              </a:rPr>
              <a:t>Microwaves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are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used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for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unicast </a:t>
            </a:r>
            <a:r>
              <a:rPr sz="3200" b="1" spc="-88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communication </a:t>
            </a:r>
            <a:r>
              <a:rPr sz="3200" b="1" dirty="0">
                <a:latin typeface="Arial"/>
                <a:cs typeface="Arial"/>
              </a:rPr>
              <a:t>such as </a:t>
            </a:r>
            <a:r>
              <a:rPr sz="3200" b="1" spc="-5" dirty="0">
                <a:latin typeface="Arial"/>
                <a:cs typeface="Arial"/>
              </a:rPr>
              <a:t>cellular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telephones</a:t>
            </a:r>
            <a:r>
              <a:rPr sz="3200" b="1" spc="-6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and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wireless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LANs.</a:t>
            </a:r>
            <a:endParaRPr sz="3200">
              <a:latin typeface="Arial"/>
              <a:cs typeface="Arial"/>
            </a:endParaRPr>
          </a:p>
          <a:p>
            <a:pPr marL="12700" marR="1535430" algn="just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latin typeface="Arial"/>
                <a:cs typeface="Arial"/>
              </a:rPr>
              <a:t>Higher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frequency</a:t>
            </a:r>
            <a:r>
              <a:rPr sz="3200" b="1" spc="-6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ranges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cannot </a:t>
            </a:r>
            <a:r>
              <a:rPr sz="3200" b="1" spc="-88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penetrate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walls.</a:t>
            </a:r>
            <a:endParaRPr sz="32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3200" b="1" dirty="0">
                <a:latin typeface="Arial"/>
                <a:cs typeface="Arial"/>
              </a:rPr>
              <a:t>Use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directional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antennas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-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point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to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point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line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sight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communications.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1371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540" y="786130"/>
            <a:ext cx="25711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Unidirectional</a:t>
            </a:r>
            <a:r>
              <a:rPr sz="2000" i="1" spc="-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antennas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825" y="2051050"/>
            <a:ext cx="7394575" cy="34613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63"/>
            <a:ext cx="8593455" cy="1052830"/>
            <a:chOff x="76200" y="63"/>
            <a:chExt cx="8593455" cy="1052830"/>
          </a:xfrm>
        </p:grpSpPr>
        <p:sp>
          <p:nvSpPr>
            <p:cNvPr id="3" name="object 3"/>
            <p:cNvSpPr/>
            <p:nvPr/>
          </p:nvSpPr>
          <p:spPr>
            <a:xfrm>
              <a:off x="366712" y="108013"/>
              <a:ext cx="382905" cy="474980"/>
            </a:xfrm>
            <a:custGeom>
              <a:avLst/>
              <a:gdLst/>
              <a:ahLst/>
              <a:cxnLst/>
              <a:rect l="l" t="t" r="r" b="b"/>
              <a:pathLst>
                <a:path w="382905" h="474980">
                  <a:moveTo>
                    <a:pt x="382587" y="0"/>
                  </a:moveTo>
                  <a:lnTo>
                    <a:pt x="0" y="0"/>
                  </a:lnTo>
                  <a:lnTo>
                    <a:pt x="0" y="349186"/>
                  </a:lnTo>
                  <a:lnTo>
                    <a:pt x="0" y="474662"/>
                  </a:lnTo>
                  <a:lnTo>
                    <a:pt x="382587" y="474662"/>
                  </a:lnTo>
                  <a:lnTo>
                    <a:pt x="382587" y="349186"/>
                  </a:lnTo>
                  <a:lnTo>
                    <a:pt x="382587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300" y="108013"/>
              <a:ext cx="328612" cy="47466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90537" y="530288"/>
              <a:ext cx="370205" cy="474980"/>
            </a:xfrm>
            <a:custGeom>
              <a:avLst/>
              <a:gdLst/>
              <a:ahLst/>
              <a:cxnLst/>
              <a:rect l="l" t="t" r="r" b="b"/>
              <a:pathLst>
                <a:path w="370205" h="474980">
                  <a:moveTo>
                    <a:pt x="369887" y="0"/>
                  </a:moveTo>
                  <a:lnTo>
                    <a:pt x="0" y="0"/>
                  </a:lnTo>
                  <a:lnTo>
                    <a:pt x="0" y="349186"/>
                  </a:lnTo>
                  <a:lnTo>
                    <a:pt x="0" y="474662"/>
                  </a:lnTo>
                  <a:lnTo>
                    <a:pt x="369887" y="474662"/>
                  </a:lnTo>
                  <a:lnTo>
                    <a:pt x="369887" y="349186"/>
                  </a:lnTo>
                  <a:lnTo>
                    <a:pt x="369887" y="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425" y="530288"/>
              <a:ext cx="368300" cy="4746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457199"/>
              <a:ext cx="560387" cy="4222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1200" y="63"/>
              <a:ext cx="31750" cy="1052830"/>
            </a:xfrm>
            <a:custGeom>
              <a:avLst/>
              <a:gdLst/>
              <a:ahLst/>
              <a:cxnLst/>
              <a:rect l="l" t="t" r="r" b="b"/>
              <a:pathLst>
                <a:path w="31750" h="1052830">
                  <a:moveTo>
                    <a:pt x="31750" y="565086"/>
                  </a:moveTo>
                  <a:lnTo>
                    <a:pt x="0" y="565086"/>
                  </a:lnTo>
                  <a:lnTo>
                    <a:pt x="0" y="1052512"/>
                  </a:lnTo>
                  <a:lnTo>
                    <a:pt x="31750" y="1052512"/>
                  </a:lnTo>
                  <a:lnTo>
                    <a:pt x="31750" y="565086"/>
                  </a:lnTo>
                  <a:close/>
                </a:path>
                <a:path w="31750" h="1052830">
                  <a:moveTo>
                    <a:pt x="31750" y="0"/>
                  </a:moveTo>
                  <a:lnTo>
                    <a:pt x="0" y="0"/>
                  </a:lnTo>
                  <a:lnTo>
                    <a:pt x="0" y="533336"/>
                  </a:lnTo>
                  <a:lnTo>
                    <a:pt x="31750" y="533336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912" y="533399"/>
              <a:ext cx="8226425" cy="31750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457200" y="26670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8787" y="4876800"/>
            <a:ext cx="8154034" cy="0"/>
          </a:xfrm>
          <a:custGeom>
            <a:avLst/>
            <a:gdLst/>
            <a:ahLst/>
            <a:cxnLst/>
            <a:rect l="l" t="t" r="r" b="b"/>
            <a:pathLst>
              <a:path w="8154034">
                <a:moveTo>
                  <a:pt x="0" y="0"/>
                </a:moveTo>
                <a:lnTo>
                  <a:pt x="8153463" y="0"/>
                </a:lnTo>
              </a:path>
            </a:pathLst>
          </a:custGeom>
          <a:ln w="76200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3550">
              <a:latin typeface="Times New Roman"/>
              <a:cs typeface="Times New Roman"/>
            </a:endParaRPr>
          </a:p>
          <a:p>
            <a:pPr marL="340360" marR="333375" algn="ctr">
              <a:lnSpc>
                <a:spcPct val="100000"/>
              </a:lnSpc>
            </a:pPr>
            <a:r>
              <a:rPr sz="3200" b="1" dirty="0">
                <a:latin typeface="Arial"/>
                <a:cs typeface="Arial"/>
              </a:rPr>
              <a:t>Infrared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signals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can </a:t>
            </a:r>
            <a:r>
              <a:rPr sz="3200" b="1" dirty="0">
                <a:latin typeface="Arial"/>
                <a:cs typeface="Arial"/>
              </a:rPr>
              <a:t>be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used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for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short-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range </a:t>
            </a:r>
            <a:r>
              <a:rPr sz="3200" b="1" spc="-5" dirty="0">
                <a:latin typeface="Arial"/>
                <a:cs typeface="Arial"/>
              </a:rPr>
              <a:t>communication </a:t>
            </a:r>
            <a:r>
              <a:rPr sz="3200" b="1" dirty="0">
                <a:latin typeface="Arial"/>
                <a:cs typeface="Arial"/>
              </a:rPr>
              <a:t>in a </a:t>
            </a:r>
            <a:r>
              <a:rPr sz="3200" b="1" spc="-5" dirty="0">
                <a:latin typeface="Arial"/>
                <a:cs typeface="Arial"/>
              </a:rPr>
              <a:t>closed </a:t>
            </a:r>
            <a:r>
              <a:rPr sz="3200" b="1" dirty="0">
                <a:latin typeface="Arial"/>
                <a:cs typeface="Arial"/>
              </a:rPr>
              <a:t>area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using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line-of-sight</a:t>
            </a:r>
            <a:r>
              <a:rPr sz="3200" b="1" spc="-5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propagation.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7200" y="2024062"/>
            <a:ext cx="1143000" cy="566737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69442" y="2045335"/>
            <a:ext cx="715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0000FF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9705" y="478358"/>
            <a:ext cx="62458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Transmission</a:t>
            </a:r>
            <a:r>
              <a:rPr spc="-100" dirty="0"/>
              <a:t> </a:t>
            </a:r>
            <a:r>
              <a:rPr dirty="0"/>
              <a:t>Impairment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9757"/>
            <a:ext cx="8074659" cy="3343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580515" algn="l"/>
                <a:tab pos="3097530" algn="l"/>
                <a:tab pos="4545330" algn="l"/>
                <a:tab pos="6061710" algn="l"/>
                <a:tab pos="6858000" algn="l"/>
                <a:tab pos="7539355" algn="l"/>
              </a:tabLst>
            </a:pPr>
            <a:r>
              <a:rPr sz="3200" dirty="0">
                <a:latin typeface="Times New Roman"/>
                <a:cs typeface="Times New Roman"/>
              </a:rPr>
              <a:t>Signal	</a:t>
            </a:r>
            <a:r>
              <a:rPr sz="3200" spc="-20" dirty="0">
                <a:latin typeface="Times New Roman"/>
                <a:cs typeface="Times New Roman"/>
              </a:rPr>
              <a:t>t</a:t>
            </a:r>
            <a:r>
              <a:rPr sz="3200" spc="-10" dirty="0">
                <a:latin typeface="Times New Roman"/>
                <a:cs typeface="Times New Roman"/>
              </a:rPr>
              <a:t>r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5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sm</a:t>
            </a:r>
            <a:r>
              <a:rPr sz="3200" spc="-10" dirty="0">
                <a:latin typeface="Times New Roman"/>
                <a:cs typeface="Times New Roman"/>
              </a:rPr>
              <a:t>i</a:t>
            </a:r>
            <a:r>
              <a:rPr sz="3200" dirty="0">
                <a:latin typeface="Times New Roman"/>
                <a:cs typeface="Times New Roman"/>
              </a:rPr>
              <a:t>t	</a:t>
            </a:r>
            <a:r>
              <a:rPr sz="3200" spc="-20" dirty="0">
                <a:latin typeface="Times New Roman"/>
                <a:cs typeface="Times New Roman"/>
              </a:rPr>
              <a:t>t</a:t>
            </a:r>
            <a:r>
              <a:rPr sz="3200" dirty="0">
                <a:latin typeface="Times New Roman"/>
                <a:cs typeface="Times New Roman"/>
              </a:rPr>
              <a:t>hrou</a:t>
            </a:r>
            <a:r>
              <a:rPr sz="3200" spc="-10" dirty="0">
                <a:latin typeface="Times New Roman"/>
                <a:cs typeface="Times New Roman"/>
              </a:rPr>
              <a:t>g</a:t>
            </a:r>
            <a:r>
              <a:rPr sz="3200" dirty="0">
                <a:latin typeface="Times New Roman"/>
                <a:cs typeface="Times New Roman"/>
              </a:rPr>
              <a:t>h	medium	that	are	</a:t>
            </a:r>
            <a:r>
              <a:rPr sz="3200" spc="5" dirty="0">
                <a:latin typeface="Times New Roman"/>
                <a:cs typeface="Times New Roman"/>
              </a:rPr>
              <a:t>not  </a:t>
            </a:r>
            <a:r>
              <a:rPr sz="3200" dirty="0">
                <a:latin typeface="Times New Roman"/>
                <a:cs typeface="Times New Roman"/>
              </a:rPr>
              <a:t>perfect.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imperfection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cause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signal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impairment.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46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What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dirty="0">
                <a:latin typeface="Times New Roman"/>
                <a:cs typeface="Times New Roman"/>
              </a:rPr>
              <a:t> sent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not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received.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533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1371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07489" y="549605"/>
            <a:ext cx="46266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/>
                <a:cs typeface="Times New Roman"/>
              </a:rPr>
              <a:t>Causes</a:t>
            </a:r>
            <a:r>
              <a:rPr sz="4000" i="1" spc="-40" dirty="0">
                <a:latin typeface="Times New Roman"/>
                <a:cs typeface="Times New Roman"/>
              </a:rPr>
              <a:t> </a:t>
            </a:r>
            <a:r>
              <a:rPr sz="4000" i="1" spc="-5" dirty="0">
                <a:latin typeface="Times New Roman"/>
                <a:cs typeface="Times New Roman"/>
              </a:rPr>
              <a:t>of</a:t>
            </a:r>
            <a:r>
              <a:rPr sz="4000" i="1" spc="-35" dirty="0">
                <a:latin typeface="Times New Roman"/>
                <a:cs typeface="Times New Roman"/>
              </a:rPr>
              <a:t> </a:t>
            </a:r>
            <a:r>
              <a:rPr sz="4000" i="1" dirty="0">
                <a:latin typeface="Times New Roman"/>
                <a:cs typeface="Times New Roman"/>
              </a:rPr>
              <a:t>impairment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5" y="2286000"/>
            <a:ext cx="7019925" cy="221767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9533" y="622757"/>
            <a:ext cx="2885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Attenuation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dirty="0"/>
              <a:t>Means</a:t>
            </a:r>
            <a:r>
              <a:rPr spc="-35" dirty="0"/>
              <a:t> </a:t>
            </a:r>
            <a:r>
              <a:rPr dirty="0"/>
              <a:t>loss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10" dirty="0"/>
              <a:t>energy </a:t>
            </a:r>
            <a:r>
              <a:rPr dirty="0"/>
              <a:t>-&gt;</a:t>
            </a:r>
            <a:r>
              <a:rPr spc="-20" dirty="0"/>
              <a:t> </a:t>
            </a:r>
            <a:r>
              <a:rPr dirty="0"/>
              <a:t>weaker</a:t>
            </a:r>
            <a:r>
              <a:rPr spc="-20" dirty="0"/>
              <a:t> </a:t>
            </a:r>
            <a:r>
              <a:rPr dirty="0"/>
              <a:t>signal</a:t>
            </a:r>
          </a:p>
          <a:p>
            <a:pPr marL="1270"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3500"/>
          </a:p>
          <a:p>
            <a:pPr marL="356870" marR="5080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357505" algn="l"/>
                <a:tab pos="1213485" algn="l"/>
                <a:tab pos="1478280" algn="l"/>
                <a:tab pos="2335530" algn="l"/>
                <a:tab pos="3275329" algn="l"/>
                <a:tab pos="4352925" algn="l"/>
                <a:tab pos="4618355" algn="l"/>
                <a:tab pos="5742940" algn="l"/>
                <a:tab pos="6040120" algn="l"/>
                <a:tab pos="6781165" algn="l"/>
              </a:tabLst>
            </a:pPr>
            <a:r>
              <a:rPr spc="-10" dirty="0"/>
              <a:t>W</a:t>
            </a:r>
            <a:r>
              <a:rPr dirty="0"/>
              <a:t>hen	a	signal	trav</a:t>
            </a:r>
            <a:r>
              <a:rPr spc="-10" dirty="0"/>
              <a:t>e</a:t>
            </a:r>
            <a:r>
              <a:rPr spc="-5" dirty="0"/>
              <a:t>ls</a:t>
            </a:r>
            <a:r>
              <a:rPr dirty="0"/>
              <a:t>	t</a:t>
            </a:r>
            <a:r>
              <a:rPr spc="-10" dirty="0"/>
              <a:t>h</a:t>
            </a:r>
            <a:r>
              <a:rPr dirty="0"/>
              <a:t>rough	a	</a:t>
            </a:r>
            <a:r>
              <a:rPr spc="-20" dirty="0"/>
              <a:t>m</a:t>
            </a:r>
            <a:r>
              <a:rPr dirty="0"/>
              <a:t>ed</a:t>
            </a:r>
            <a:r>
              <a:rPr spc="5" dirty="0"/>
              <a:t>i</a:t>
            </a:r>
            <a:r>
              <a:rPr dirty="0"/>
              <a:t>um	</a:t>
            </a:r>
            <a:r>
              <a:rPr spc="-10" dirty="0"/>
              <a:t>i</a:t>
            </a:r>
            <a:r>
              <a:rPr dirty="0"/>
              <a:t>t	los</a:t>
            </a:r>
            <a:r>
              <a:rPr spc="5" dirty="0"/>
              <a:t>e</a:t>
            </a:r>
            <a:r>
              <a:rPr spc="-5" dirty="0"/>
              <a:t>s</a:t>
            </a:r>
            <a:r>
              <a:rPr dirty="0"/>
              <a:t>	ene</a:t>
            </a:r>
            <a:r>
              <a:rPr spc="-40" dirty="0"/>
              <a:t>r</a:t>
            </a:r>
            <a:r>
              <a:rPr spc="-15" dirty="0"/>
              <a:t>g</a:t>
            </a:r>
            <a:r>
              <a:rPr dirty="0"/>
              <a:t>y  </a:t>
            </a:r>
            <a:r>
              <a:rPr spc="-5" dirty="0"/>
              <a:t>overcoming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resistance</a:t>
            </a:r>
            <a:r>
              <a:rPr spc="-3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medium</a:t>
            </a:r>
          </a:p>
          <a:p>
            <a:pPr marL="1270"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3500"/>
          </a:p>
          <a:p>
            <a:pPr marL="356870" marR="5080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pc="-5" dirty="0"/>
              <a:t>Amplifiers</a:t>
            </a:r>
            <a:r>
              <a:rPr spc="260" dirty="0"/>
              <a:t> </a:t>
            </a:r>
            <a:r>
              <a:rPr dirty="0"/>
              <a:t>are</a:t>
            </a:r>
            <a:r>
              <a:rPr spc="254" dirty="0"/>
              <a:t> </a:t>
            </a:r>
            <a:r>
              <a:rPr dirty="0"/>
              <a:t>used</a:t>
            </a:r>
            <a:r>
              <a:rPr spc="245" dirty="0"/>
              <a:t> </a:t>
            </a:r>
            <a:r>
              <a:rPr dirty="0"/>
              <a:t>to</a:t>
            </a:r>
            <a:r>
              <a:rPr spc="240" dirty="0"/>
              <a:t> </a:t>
            </a:r>
            <a:r>
              <a:rPr spc="-5" dirty="0"/>
              <a:t>compensate</a:t>
            </a:r>
            <a:r>
              <a:rPr spc="250" dirty="0"/>
              <a:t> </a:t>
            </a:r>
            <a:r>
              <a:rPr dirty="0"/>
              <a:t>for</a:t>
            </a:r>
            <a:r>
              <a:rPr spc="250" dirty="0"/>
              <a:t> </a:t>
            </a:r>
            <a:r>
              <a:rPr dirty="0"/>
              <a:t>this</a:t>
            </a:r>
            <a:r>
              <a:rPr spc="245" dirty="0"/>
              <a:t> </a:t>
            </a:r>
            <a:r>
              <a:rPr spc="-5" dirty="0"/>
              <a:t>loss</a:t>
            </a:r>
            <a:r>
              <a:rPr spc="260" dirty="0"/>
              <a:t> </a:t>
            </a:r>
            <a:r>
              <a:rPr dirty="0"/>
              <a:t>of</a:t>
            </a:r>
            <a:r>
              <a:rPr spc="245" dirty="0"/>
              <a:t> </a:t>
            </a:r>
            <a:r>
              <a:rPr spc="-10" dirty="0"/>
              <a:t>energy </a:t>
            </a:r>
            <a:r>
              <a:rPr spc="-585" dirty="0"/>
              <a:t> </a:t>
            </a:r>
            <a:r>
              <a:rPr dirty="0"/>
              <a:t>by</a:t>
            </a:r>
            <a:r>
              <a:rPr spc="-20" dirty="0"/>
              <a:t> </a:t>
            </a:r>
            <a:r>
              <a:rPr spc="-5" dirty="0"/>
              <a:t>amplifying</a:t>
            </a:r>
            <a:r>
              <a:rPr spc="-1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signal.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4262" y="622757"/>
            <a:ext cx="68814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Measurement</a:t>
            </a:r>
            <a:r>
              <a:rPr spc="-75" dirty="0"/>
              <a:t> </a:t>
            </a:r>
            <a:r>
              <a:rPr dirty="0"/>
              <a:t>of</a:t>
            </a:r>
            <a:r>
              <a:rPr spc="-260" dirty="0"/>
              <a:t> </a:t>
            </a:r>
            <a:r>
              <a:rPr dirty="0"/>
              <a:t>Attenuation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0" y="2000834"/>
            <a:ext cx="7325359" cy="3343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17780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68300" algn="l"/>
                <a:tab pos="368935" algn="l"/>
              </a:tabLst>
            </a:pPr>
            <a:r>
              <a:rPr sz="3200" spc="-114" dirty="0">
                <a:latin typeface="Times New Roman"/>
                <a:cs typeface="Times New Roman"/>
              </a:rPr>
              <a:t>To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show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loss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 gain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energy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unit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“decibel”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used.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000">
              <a:latin typeface="Times New Roman"/>
              <a:cs typeface="Times New Roman"/>
            </a:endParaRPr>
          </a:p>
          <a:p>
            <a:pPr marL="2350135" marR="2025014" algn="ctr">
              <a:lnSpc>
                <a:spcPct val="120000"/>
              </a:lnSpc>
            </a:pPr>
            <a:r>
              <a:rPr sz="3200" dirty="0">
                <a:latin typeface="Times New Roman"/>
                <a:cs typeface="Times New Roman"/>
              </a:rPr>
              <a:t>dB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=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10log</a:t>
            </a:r>
            <a:r>
              <a:rPr sz="3150" spc="7" baseline="-21164" dirty="0">
                <a:latin typeface="Times New Roman"/>
                <a:cs typeface="Times New Roman"/>
              </a:rPr>
              <a:t>10</a:t>
            </a:r>
            <a:r>
              <a:rPr sz="3200" spc="5" dirty="0">
                <a:latin typeface="Times New Roman"/>
                <a:cs typeface="Times New Roman"/>
              </a:rPr>
              <a:t>P</a:t>
            </a:r>
            <a:r>
              <a:rPr sz="3150" spc="7" baseline="-21164" dirty="0">
                <a:latin typeface="Times New Roman"/>
                <a:cs typeface="Times New Roman"/>
              </a:rPr>
              <a:t>2</a:t>
            </a:r>
            <a:r>
              <a:rPr sz="3200" spc="5" dirty="0">
                <a:latin typeface="Times New Roman"/>
                <a:cs typeface="Times New Roman"/>
              </a:rPr>
              <a:t>/P</a:t>
            </a:r>
            <a:r>
              <a:rPr sz="3150" spc="7" baseline="-21164" dirty="0">
                <a:latin typeface="Times New Roman"/>
                <a:cs typeface="Times New Roman"/>
              </a:rPr>
              <a:t>1 </a:t>
            </a:r>
            <a:r>
              <a:rPr sz="3150" spc="-765" baseline="-2116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</a:t>
            </a:r>
            <a:r>
              <a:rPr sz="3150" baseline="-21164" dirty="0">
                <a:latin typeface="Times New Roman"/>
                <a:cs typeface="Times New Roman"/>
              </a:rPr>
              <a:t>1</a:t>
            </a:r>
            <a:r>
              <a:rPr sz="3150" spc="787" baseline="-2116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 input signal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</a:t>
            </a:r>
            <a:r>
              <a:rPr sz="3150" baseline="-21164" dirty="0">
                <a:latin typeface="Times New Roman"/>
                <a:cs typeface="Times New Roman"/>
              </a:rPr>
              <a:t>2</a:t>
            </a:r>
            <a:r>
              <a:rPr sz="3150" spc="359" baseline="-2116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output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signal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52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990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540" y="400303"/>
            <a:ext cx="18865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Attenuation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" y="6324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4200" y="2093772"/>
            <a:ext cx="7797800" cy="293542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540" y="1619757"/>
            <a:ext cx="7973695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marR="304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i="1" dirty="0">
                <a:latin typeface="Times New Roman"/>
                <a:cs typeface="Times New Roman"/>
              </a:rPr>
              <a:t>Suppose a signal travels </a:t>
            </a:r>
            <a:r>
              <a:rPr sz="3200" i="1" spc="-15" dirty="0">
                <a:latin typeface="Times New Roman"/>
                <a:cs typeface="Times New Roman"/>
              </a:rPr>
              <a:t>through </a:t>
            </a:r>
            <a:r>
              <a:rPr sz="3200" i="1" dirty="0">
                <a:latin typeface="Times New Roman"/>
                <a:cs typeface="Times New Roman"/>
              </a:rPr>
              <a:t>a </a:t>
            </a:r>
            <a:r>
              <a:rPr sz="3200" i="1" spc="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transmission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medium</a:t>
            </a:r>
            <a:r>
              <a:rPr sz="3200" i="1" spc="-2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and</a:t>
            </a:r>
            <a:r>
              <a:rPr sz="3200" i="1" spc="-2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its power is</a:t>
            </a:r>
            <a:r>
              <a:rPr sz="3200" i="1" spc="-15" dirty="0">
                <a:latin typeface="Times New Roman"/>
                <a:cs typeface="Times New Roman"/>
              </a:rPr>
              <a:t> reduced </a:t>
            </a:r>
            <a:r>
              <a:rPr sz="3200" i="1" spc="-78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to one-half. This means that </a:t>
            </a:r>
            <a:r>
              <a:rPr sz="3200" i="1" spc="15" dirty="0">
                <a:latin typeface="Times New Roman"/>
                <a:cs typeface="Times New Roman"/>
              </a:rPr>
              <a:t>P</a:t>
            </a:r>
            <a:r>
              <a:rPr sz="3150" i="1" spc="22" baseline="-14550" dirty="0">
                <a:latin typeface="Times New Roman"/>
                <a:cs typeface="Times New Roman"/>
              </a:rPr>
              <a:t>2</a:t>
            </a:r>
            <a:r>
              <a:rPr sz="3150" i="1" spc="30" baseline="-1455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is (1/2)P</a:t>
            </a:r>
            <a:r>
              <a:rPr sz="3150" i="1" baseline="-14550" dirty="0">
                <a:latin typeface="Times New Roman"/>
                <a:cs typeface="Times New Roman"/>
              </a:rPr>
              <a:t>1</a:t>
            </a:r>
            <a:r>
              <a:rPr sz="3200" i="1" dirty="0">
                <a:latin typeface="Times New Roman"/>
                <a:cs typeface="Times New Roman"/>
              </a:rPr>
              <a:t>. In </a:t>
            </a:r>
            <a:r>
              <a:rPr sz="3200" i="1" spc="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this case, the attenuation (loss of power) can </a:t>
            </a:r>
            <a:r>
              <a:rPr sz="3200" i="1" spc="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be</a:t>
            </a:r>
            <a:r>
              <a:rPr sz="3200" i="1" spc="-2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calculated</a:t>
            </a:r>
            <a:r>
              <a:rPr sz="3200" i="1" spc="-3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83702" y="6431381"/>
            <a:ext cx="324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888888"/>
                </a:solidFill>
                <a:latin typeface="Arial"/>
                <a:cs typeface="Arial"/>
              </a:rPr>
              <a:t>7.35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7465" y="622757"/>
            <a:ext cx="24504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Distortion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535289"/>
            <a:ext cx="7616190" cy="35255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imes New Roman"/>
                <a:cs typeface="Times New Roman"/>
              </a:rPr>
              <a:t>Means</a:t>
            </a:r>
            <a:r>
              <a:rPr sz="2800" spc="-5" dirty="0">
                <a:latin typeface="Times New Roman"/>
                <a:cs typeface="Times New Roman"/>
              </a:rPr>
              <a:t> that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signal</a:t>
            </a:r>
            <a:r>
              <a:rPr sz="2800" spc="-5" dirty="0">
                <a:latin typeface="Times New Roman"/>
                <a:cs typeface="Times New Roman"/>
              </a:rPr>
              <a:t> changes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its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form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 </a:t>
            </a:r>
            <a:r>
              <a:rPr sz="2800" spc="-5" dirty="0">
                <a:latin typeface="Times New Roman"/>
                <a:cs typeface="Times New Roman"/>
              </a:rPr>
              <a:t>shape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Times New Roman"/>
                <a:cs typeface="Times New Roman"/>
              </a:rPr>
              <a:t>Distortion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occurs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in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composite</a:t>
            </a:r>
            <a:r>
              <a:rPr sz="2800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signals</a:t>
            </a:r>
            <a:endParaRPr sz="2800">
              <a:latin typeface="Times New Roman"/>
              <a:cs typeface="Times New Roman"/>
            </a:endParaRPr>
          </a:p>
          <a:p>
            <a:pPr marL="355600" marR="5715" indent="-342900">
              <a:lnSpc>
                <a:spcPts val="302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  <a:tab pos="1486535" algn="l"/>
                <a:tab pos="3333750" algn="l"/>
                <a:tab pos="5335270" algn="l"/>
                <a:tab pos="6231255" algn="l"/>
                <a:tab pos="6990715" algn="l"/>
              </a:tabLst>
            </a:pP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spc="-15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ch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5" dirty="0">
                <a:latin typeface="Times New Roman"/>
                <a:cs typeface="Times New Roman"/>
              </a:rPr>
              <a:t>f</a:t>
            </a:r>
            <a:r>
              <a:rPr sz="2800" spc="-5" dirty="0">
                <a:latin typeface="Times New Roman"/>
                <a:cs typeface="Times New Roman"/>
              </a:rPr>
              <a:t>r</a:t>
            </a:r>
            <a:r>
              <a:rPr sz="280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q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5" dirty="0">
                <a:latin typeface="Times New Roman"/>
                <a:cs typeface="Times New Roman"/>
              </a:rPr>
              <a:t>ency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co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nent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has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its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own 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propagation</a:t>
            </a:r>
            <a:r>
              <a:rPr sz="28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speed </a:t>
            </a:r>
            <a:r>
              <a:rPr sz="2800" spc="-5" dirty="0">
                <a:latin typeface="Times New Roman"/>
                <a:cs typeface="Times New Roman"/>
              </a:rPr>
              <a:t>traveling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medium.</a:t>
            </a:r>
            <a:endParaRPr sz="2800">
              <a:latin typeface="Times New Roman"/>
              <a:cs typeface="Times New Roman"/>
            </a:endParaRPr>
          </a:p>
          <a:p>
            <a:pPr marL="355600" marR="7620" indent="-342900">
              <a:lnSpc>
                <a:spcPts val="3030"/>
              </a:lnSpc>
              <a:spcBef>
                <a:spcPts val="670"/>
              </a:spcBef>
              <a:buFont typeface="Arial MT"/>
              <a:buChar char="•"/>
              <a:tabLst>
                <a:tab pos="354965" algn="l"/>
                <a:tab pos="355600" algn="l"/>
                <a:tab pos="1109980" algn="l"/>
                <a:tab pos="2532380" algn="l"/>
                <a:tab pos="4450715" algn="l"/>
                <a:tab pos="5935345" algn="l"/>
                <a:tab pos="6969125" algn="l"/>
              </a:tabLst>
            </a:pPr>
            <a:r>
              <a:rPr sz="2800" spc="-5" dirty="0">
                <a:latin typeface="Times New Roman"/>
                <a:cs typeface="Times New Roman"/>
              </a:rPr>
              <a:t>The	d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0" dirty="0">
                <a:latin typeface="Times New Roman"/>
                <a:cs typeface="Times New Roman"/>
              </a:rPr>
              <a:t>f</a:t>
            </a:r>
            <a:r>
              <a:rPr sz="2800" spc="-5" dirty="0">
                <a:latin typeface="Times New Roman"/>
                <a:cs typeface="Times New Roman"/>
              </a:rPr>
              <a:t>ferent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co</a:t>
            </a:r>
            <a:r>
              <a:rPr sz="2800" spc="-20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nents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th</a:t>
            </a:r>
            <a:r>
              <a:rPr sz="2800" spc="-15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ref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re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ri</a:t>
            </a:r>
            <a:r>
              <a:rPr sz="2800" spc="5" dirty="0">
                <a:latin typeface="Times New Roman"/>
                <a:cs typeface="Times New Roman"/>
              </a:rPr>
              <a:t>v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with  </a:t>
            </a:r>
            <a:r>
              <a:rPr sz="2800" spc="-10" dirty="0">
                <a:solidFill>
                  <a:srgbClr val="0000FF"/>
                </a:solidFill>
                <a:latin typeface="Times New Roman"/>
                <a:cs typeface="Times New Roman"/>
              </a:rPr>
              <a:t>different</a:t>
            </a:r>
            <a:r>
              <a:rPr sz="2800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delays</a:t>
            </a:r>
            <a:r>
              <a:rPr sz="2800" spc="-1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at</a:t>
            </a:r>
            <a:r>
              <a:rPr sz="2800" spc="-5" dirty="0">
                <a:latin typeface="Times New Roman"/>
                <a:cs typeface="Times New Roman"/>
              </a:rPr>
              <a:t> the </a:t>
            </a:r>
            <a:r>
              <a:rPr sz="2800" spc="-20" dirty="0">
                <a:latin typeface="Times New Roman"/>
                <a:cs typeface="Times New Roman"/>
              </a:rPr>
              <a:t>receiver.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020"/>
              </a:lnSpc>
              <a:spcBef>
                <a:spcPts val="6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3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means</a:t>
            </a:r>
            <a:r>
              <a:rPr sz="2800" spc="3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that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signals</a:t>
            </a:r>
            <a:r>
              <a:rPr sz="2800" spc="3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have</a:t>
            </a:r>
            <a:r>
              <a:rPr sz="2800" spc="315" dirty="0"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Times New Roman"/>
                <a:cs typeface="Times New Roman"/>
              </a:rPr>
              <a:t>different</a:t>
            </a:r>
            <a:r>
              <a:rPr sz="2800" spc="3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phases </a:t>
            </a:r>
            <a:r>
              <a:rPr sz="2800" spc="-6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receiver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than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they </a:t>
            </a:r>
            <a:r>
              <a:rPr sz="2800" dirty="0">
                <a:latin typeface="Times New Roman"/>
                <a:cs typeface="Times New Roman"/>
              </a:rPr>
              <a:t>did</a:t>
            </a:r>
            <a:r>
              <a:rPr sz="2800" spc="-10" dirty="0">
                <a:latin typeface="Times New Roman"/>
                <a:cs typeface="Times New Roman"/>
              </a:rPr>
              <a:t> at</a:t>
            </a:r>
            <a:r>
              <a:rPr sz="2800" dirty="0">
                <a:latin typeface="Times New Roman"/>
                <a:cs typeface="Times New Roman"/>
              </a:rPr>
              <a:t> 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source.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52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990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540" y="302133"/>
            <a:ext cx="21437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Dist</a:t>
            </a:r>
            <a:r>
              <a:rPr sz="4000" i="1" spc="5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sz="40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rt</a:t>
            </a:r>
            <a:r>
              <a:rPr sz="4000" i="1" spc="5" dirty="0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sz="40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" y="6324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837" y="1887601"/>
            <a:ext cx="8335899" cy="316380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6773" y="622757"/>
            <a:ext cx="13309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Noise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597198"/>
            <a:ext cx="7616825" cy="35947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There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different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types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noise</a:t>
            </a:r>
            <a:endParaRPr sz="32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3020"/>
              </a:lnSpc>
              <a:spcBef>
                <a:spcPts val="73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Thermal</a:t>
            </a:r>
            <a:r>
              <a:rPr sz="2800" spc="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-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random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noise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of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electrons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wire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creates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an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extra</a:t>
            </a:r>
            <a:r>
              <a:rPr sz="2800" dirty="0">
                <a:latin typeface="Times New Roman"/>
                <a:cs typeface="Times New Roman"/>
              </a:rPr>
              <a:t> signal</a:t>
            </a:r>
            <a:endParaRPr sz="2800">
              <a:latin typeface="Times New Roman"/>
              <a:cs typeface="Times New Roman"/>
            </a:endParaRPr>
          </a:p>
          <a:p>
            <a:pPr marL="756285" marR="5715" lvl="1" indent="-287020">
              <a:lnSpc>
                <a:spcPts val="3020"/>
              </a:lnSpc>
              <a:spcBef>
                <a:spcPts val="680"/>
              </a:spcBef>
              <a:buFont typeface="Arial MT"/>
              <a:buChar char="–"/>
              <a:tabLst>
                <a:tab pos="756920" algn="l"/>
                <a:tab pos="2289175" algn="l"/>
                <a:tab pos="2600960" algn="l"/>
                <a:tab pos="3519804" algn="l"/>
                <a:tab pos="4008754" algn="l"/>
                <a:tab pos="5050155" algn="l"/>
                <a:tab pos="5695950" algn="l"/>
                <a:tab pos="7069455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Cro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stalk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sa</a:t>
            </a:r>
            <a:r>
              <a:rPr sz="2800" spc="-25" dirty="0">
                <a:latin typeface="Times New Roman"/>
                <a:cs typeface="Times New Roman"/>
              </a:rPr>
              <a:t>m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abo</a:t>
            </a:r>
            <a:r>
              <a:rPr sz="2800" dirty="0">
                <a:latin typeface="Times New Roman"/>
                <a:cs typeface="Times New Roman"/>
              </a:rPr>
              <a:t>v</a:t>
            </a:r>
            <a:r>
              <a:rPr sz="2800" spc="-5" dirty="0">
                <a:latin typeface="Times New Roman"/>
                <a:cs typeface="Times New Roman"/>
              </a:rPr>
              <a:t>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but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b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twe</a:t>
            </a:r>
            <a:r>
              <a:rPr sz="2800" spc="-20" dirty="0">
                <a:latin typeface="Times New Roman"/>
                <a:cs typeface="Times New Roman"/>
              </a:rPr>
              <a:t>e</a:t>
            </a:r>
            <a:r>
              <a:rPr sz="2800" spc="-5" dirty="0">
                <a:latin typeface="Times New Roman"/>
                <a:cs typeface="Times New Roman"/>
              </a:rPr>
              <a:t>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two  wires.</a:t>
            </a:r>
            <a:endParaRPr sz="28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3020"/>
              </a:lnSpc>
              <a:spcBef>
                <a:spcPts val="680"/>
              </a:spcBef>
              <a:buFont typeface="Arial MT"/>
              <a:buChar char="–"/>
              <a:tabLst>
                <a:tab pos="756920" algn="l"/>
                <a:tab pos="2039620" algn="l"/>
                <a:tab pos="2298700" algn="l"/>
                <a:tab pos="3387090" algn="l"/>
                <a:tab pos="4056379" algn="l"/>
                <a:tab pos="4984750" algn="l"/>
                <a:tab pos="5813425" algn="l"/>
                <a:tab pos="6842759" algn="l"/>
              </a:tabLst>
            </a:pP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2800" spc="-20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2800" spc="-5" dirty="0">
                <a:solidFill>
                  <a:srgbClr val="0000FF"/>
                </a:solidFill>
                <a:latin typeface="Times New Roman"/>
                <a:cs typeface="Times New Roman"/>
              </a:rPr>
              <a:t>lse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-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S</a:t>
            </a:r>
            <a:r>
              <a:rPr sz="2800" dirty="0">
                <a:latin typeface="Times New Roman"/>
                <a:cs typeface="Times New Roman"/>
              </a:rPr>
              <a:t>p</a:t>
            </a:r>
            <a:r>
              <a:rPr sz="2800" spc="-5" dirty="0">
                <a:latin typeface="Times New Roman"/>
                <a:cs typeface="Times New Roman"/>
              </a:rPr>
              <a:t>i</a:t>
            </a:r>
            <a:r>
              <a:rPr sz="2800" dirty="0">
                <a:latin typeface="Times New Roman"/>
                <a:cs typeface="Times New Roman"/>
              </a:rPr>
              <a:t>k</a:t>
            </a:r>
            <a:r>
              <a:rPr sz="2800" spc="-5" dirty="0">
                <a:latin typeface="Times New Roman"/>
                <a:cs typeface="Times New Roman"/>
              </a:rPr>
              <a:t>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5" dirty="0">
                <a:latin typeface="Times New Roman"/>
                <a:cs typeface="Times New Roman"/>
              </a:rPr>
              <a:t>t</a:t>
            </a:r>
            <a:r>
              <a:rPr sz="2800" spc="-5" dirty="0">
                <a:latin typeface="Times New Roman"/>
                <a:cs typeface="Times New Roman"/>
              </a:rPr>
              <a:t>h</a:t>
            </a:r>
            <a:r>
              <a:rPr sz="2800" spc="-20" dirty="0">
                <a:latin typeface="Times New Roman"/>
                <a:cs typeface="Times New Roman"/>
              </a:rPr>
              <a:t>a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res</a:t>
            </a:r>
            <a:r>
              <a:rPr sz="2800" dirty="0">
                <a:latin typeface="Times New Roman"/>
                <a:cs typeface="Times New Roman"/>
              </a:rPr>
              <a:t>u</a:t>
            </a:r>
            <a:r>
              <a:rPr sz="2800" spc="-15" dirty="0">
                <a:latin typeface="Times New Roman"/>
                <a:cs typeface="Times New Roman"/>
              </a:rPr>
              <a:t>l</a:t>
            </a:r>
            <a:r>
              <a:rPr sz="2800" spc="-5" dirty="0">
                <a:latin typeface="Times New Roman"/>
                <a:cs typeface="Times New Roman"/>
              </a:rPr>
              <a:t>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f</a:t>
            </a:r>
            <a:r>
              <a:rPr sz="2800" dirty="0">
                <a:latin typeface="Times New Roman"/>
                <a:cs typeface="Times New Roman"/>
              </a:rPr>
              <a:t>r</a:t>
            </a:r>
            <a:r>
              <a:rPr sz="2800" spc="-5" dirty="0">
                <a:latin typeface="Times New Roman"/>
                <a:cs typeface="Times New Roman"/>
              </a:rPr>
              <a:t>om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p</a:t>
            </a:r>
            <a:r>
              <a:rPr sz="2800" dirty="0">
                <a:latin typeface="Times New Roman"/>
                <a:cs typeface="Times New Roman"/>
              </a:rPr>
              <a:t>o</a:t>
            </a:r>
            <a:r>
              <a:rPr sz="2800" spc="-5" dirty="0">
                <a:latin typeface="Times New Roman"/>
                <a:cs typeface="Times New Roman"/>
              </a:rPr>
              <a:t>wer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Times New Roman"/>
                <a:cs typeface="Times New Roman"/>
              </a:rPr>
              <a:t>li</a:t>
            </a:r>
            <a:r>
              <a:rPr sz="2800" dirty="0">
                <a:latin typeface="Times New Roman"/>
                <a:cs typeface="Times New Roman"/>
              </a:rPr>
              <a:t>n</a:t>
            </a:r>
            <a:r>
              <a:rPr sz="2800" spc="-5" dirty="0">
                <a:latin typeface="Times New Roman"/>
                <a:cs typeface="Times New Roman"/>
              </a:rPr>
              <a:t>es,  lightening,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etc.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29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Induced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52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9700" y="321005"/>
            <a:ext cx="8788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87090" algn="l"/>
                <a:tab pos="8775065" algn="l"/>
              </a:tabLst>
            </a:pPr>
            <a:r>
              <a:rPr sz="4000" i="1" u="heavy" spc="-5" dirty="0"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	Noise	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" y="6324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50" y="2408301"/>
            <a:ext cx="7486650" cy="264038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Signal</a:t>
            </a:r>
            <a:r>
              <a:rPr spc="-3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Noise</a:t>
            </a:r>
            <a:r>
              <a:rPr spc="-35" dirty="0"/>
              <a:t> </a:t>
            </a:r>
            <a:r>
              <a:rPr dirty="0"/>
              <a:t>Ratio</a:t>
            </a:r>
            <a:r>
              <a:rPr spc="-40" dirty="0"/>
              <a:t> </a:t>
            </a:r>
            <a:r>
              <a:rPr dirty="0"/>
              <a:t>(SNR)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2000834"/>
            <a:ext cx="7668259" cy="3148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marR="30480" indent="-343535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81635" algn="l"/>
              </a:tabLst>
            </a:pPr>
            <a:r>
              <a:rPr sz="3200" spc="-114" dirty="0">
                <a:latin typeface="Times New Roman"/>
                <a:cs typeface="Times New Roman"/>
              </a:rPr>
              <a:t>To </a:t>
            </a:r>
            <a:r>
              <a:rPr sz="3200" dirty="0">
                <a:latin typeface="Times New Roman"/>
                <a:cs typeface="Times New Roman"/>
              </a:rPr>
              <a:t>measure </a:t>
            </a:r>
            <a:r>
              <a:rPr sz="3200" spc="-5" dirty="0">
                <a:latin typeface="Times New Roman"/>
                <a:cs typeface="Times New Roman"/>
              </a:rPr>
              <a:t>the quality of </a:t>
            </a:r>
            <a:r>
              <a:rPr sz="3200" dirty="0">
                <a:latin typeface="Times New Roman"/>
                <a:cs typeface="Times New Roman"/>
              </a:rPr>
              <a:t>a system the SNR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 often </a:t>
            </a:r>
            <a:r>
              <a:rPr sz="3200" dirty="0">
                <a:latin typeface="Times New Roman"/>
                <a:cs typeface="Times New Roman"/>
              </a:rPr>
              <a:t>used. It </a:t>
            </a:r>
            <a:r>
              <a:rPr sz="3200" spc="-5" dirty="0">
                <a:latin typeface="Times New Roman"/>
                <a:cs typeface="Times New Roman"/>
              </a:rPr>
              <a:t>indicates the </a:t>
            </a:r>
            <a:r>
              <a:rPr sz="3200" dirty="0">
                <a:latin typeface="Times New Roman"/>
                <a:cs typeface="Times New Roman"/>
              </a:rPr>
              <a:t>strength of </a:t>
            </a:r>
            <a:r>
              <a:rPr sz="3200" spc="-5" dirty="0">
                <a:latin typeface="Times New Roman"/>
                <a:cs typeface="Times New Roman"/>
              </a:rPr>
              <a:t>the </a:t>
            </a:r>
            <a:r>
              <a:rPr sz="3200" dirty="0">
                <a:latin typeface="Times New Roman"/>
                <a:cs typeface="Times New Roman"/>
              </a:rPr>
              <a:t> signal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wrt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 noise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power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system.</a:t>
            </a:r>
            <a:endParaRPr sz="3200">
              <a:latin typeface="Times New Roman"/>
              <a:cs typeface="Times New Roman"/>
            </a:endParaRPr>
          </a:p>
          <a:p>
            <a:pPr marL="381000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81635" algn="l"/>
              </a:tabLst>
            </a:pPr>
            <a:r>
              <a:rPr sz="3200" dirty="0">
                <a:latin typeface="Times New Roman"/>
                <a:cs typeface="Times New Roman"/>
              </a:rPr>
              <a:t>It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ratio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between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two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powers.</a:t>
            </a:r>
            <a:endParaRPr sz="3200">
              <a:latin typeface="Times New Roman"/>
              <a:cs typeface="Times New Roman"/>
            </a:endParaRPr>
          </a:p>
          <a:p>
            <a:pPr marL="381000" marR="32384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81635" algn="l"/>
              </a:tabLst>
            </a:pPr>
            <a:r>
              <a:rPr sz="3200" dirty="0">
                <a:latin typeface="Times New Roman"/>
                <a:cs typeface="Times New Roman"/>
              </a:rPr>
              <a:t>It </a:t>
            </a:r>
            <a:r>
              <a:rPr sz="3200" spc="-5" dirty="0">
                <a:latin typeface="Times New Roman"/>
                <a:cs typeface="Times New Roman"/>
              </a:rPr>
              <a:t>is </a:t>
            </a:r>
            <a:r>
              <a:rPr sz="3200" dirty="0">
                <a:latin typeface="Times New Roman"/>
                <a:cs typeface="Times New Roman"/>
              </a:rPr>
              <a:t>usually given </a:t>
            </a:r>
            <a:r>
              <a:rPr sz="3200" spc="-10" dirty="0">
                <a:latin typeface="Times New Roman"/>
                <a:cs typeface="Times New Roman"/>
              </a:rPr>
              <a:t>in </a:t>
            </a:r>
            <a:r>
              <a:rPr sz="3200" dirty="0">
                <a:latin typeface="Times New Roman"/>
                <a:cs typeface="Times New Roman"/>
              </a:rPr>
              <a:t>dB and </a:t>
            </a:r>
            <a:r>
              <a:rPr sz="3200" spc="-5" dirty="0">
                <a:latin typeface="Times New Roman"/>
                <a:cs typeface="Times New Roman"/>
              </a:rPr>
              <a:t>referred to </a:t>
            </a:r>
            <a:r>
              <a:rPr sz="3200" spc="5" dirty="0">
                <a:latin typeface="Times New Roman"/>
                <a:cs typeface="Times New Roman"/>
              </a:rPr>
              <a:t>as 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SNR</a:t>
            </a:r>
            <a:r>
              <a:rPr sz="3150" spc="7" baseline="-21164" dirty="0">
                <a:latin typeface="Times New Roman"/>
                <a:cs typeface="Times New Roman"/>
              </a:rPr>
              <a:t>dB.</a:t>
            </a:r>
            <a:endParaRPr sz="3150" baseline="-21164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2286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10668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1905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3540" y="479501"/>
            <a:ext cx="65462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9410" algn="l"/>
              </a:tabLst>
            </a:pPr>
            <a:r>
              <a:rPr sz="2400" spc="-10" dirty="0">
                <a:solidFill>
                  <a:srgbClr val="800080"/>
                </a:solidFill>
              </a:rPr>
              <a:t>Figure</a:t>
            </a:r>
            <a:r>
              <a:rPr sz="2400" spc="-20" dirty="0">
                <a:solidFill>
                  <a:srgbClr val="800080"/>
                </a:solidFill>
              </a:rPr>
              <a:t> </a:t>
            </a:r>
            <a:r>
              <a:rPr sz="2400" dirty="0">
                <a:solidFill>
                  <a:srgbClr val="800080"/>
                </a:solidFill>
              </a:rPr>
              <a:t>3.30	</a:t>
            </a:r>
            <a:r>
              <a:rPr sz="2000" i="1" spc="-25" dirty="0">
                <a:solidFill>
                  <a:srgbClr val="000000"/>
                </a:solidFill>
                <a:latin typeface="Times New Roman"/>
                <a:cs typeface="Times New Roman"/>
              </a:rPr>
              <a:t>Two</a:t>
            </a:r>
            <a:r>
              <a:rPr sz="2000" i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cases</a:t>
            </a:r>
            <a:r>
              <a:rPr sz="2000" i="1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0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SNR:</a:t>
            </a:r>
            <a:r>
              <a:rPr sz="2000" i="1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0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 high</a:t>
            </a:r>
            <a:r>
              <a:rPr sz="2000" i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SNR</a:t>
            </a:r>
            <a:r>
              <a:rPr sz="2000" i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and</a:t>
            </a:r>
            <a:r>
              <a:rPr sz="20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a </a:t>
            </a:r>
            <a:r>
              <a:rPr sz="2000" i="1" spc="-5" dirty="0">
                <a:solidFill>
                  <a:srgbClr val="000000"/>
                </a:solidFill>
                <a:latin typeface="Times New Roman"/>
                <a:cs typeface="Times New Roman"/>
              </a:rPr>
              <a:t>low</a:t>
            </a:r>
            <a:r>
              <a:rPr sz="2000" i="1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000000"/>
                </a:solidFill>
                <a:latin typeface="Times New Roman"/>
                <a:cs typeface="Times New Roman"/>
              </a:rPr>
              <a:t>SNR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" y="6248400"/>
            <a:ext cx="8763000" cy="0"/>
          </a:xfrm>
          <a:custGeom>
            <a:avLst/>
            <a:gdLst/>
            <a:ahLst/>
            <a:cxnLst/>
            <a:rect l="l" t="t" r="r" b="b"/>
            <a:pathLst>
              <a:path w="8763000">
                <a:moveTo>
                  <a:pt x="0" y="0"/>
                </a:moveTo>
                <a:lnTo>
                  <a:pt x="8763000" y="0"/>
                </a:lnTo>
              </a:path>
            </a:pathLst>
          </a:custGeom>
          <a:ln w="762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812" y="1406525"/>
            <a:ext cx="8281924" cy="47089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855</Words>
  <Application>Microsoft Office PowerPoint</Application>
  <PresentationFormat>On-screen Show (4:3)</PresentationFormat>
  <Paragraphs>120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SimSun-ExtB</vt:lpstr>
      <vt:lpstr>Arial</vt:lpstr>
      <vt:lpstr>Arial MT</vt:lpstr>
      <vt:lpstr>Calibri</vt:lpstr>
      <vt:lpstr>Times New Roman</vt:lpstr>
      <vt:lpstr>Wingdings</vt:lpstr>
      <vt:lpstr>Office Theme</vt:lpstr>
      <vt:lpstr>Transmission Media</vt:lpstr>
      <vt:lpstr>PowerPoint Presentation</vt:lpstr>
      <vt:lpstr>PowerPoint Presentation</vt:lpstr>
      <vt:lpstr>Classes of transmission media</vt:lpstr>
      <vt:lpstr>PowerPoint Presentation</vt:lpstr>
      <vt:lpstr>Twisted-Pair Cable Twisted Pair and Coax use metallic(Copper) conductors  that accept and transport the signals in the form of  Electrical Current.</vt:lpstr>
      <vt:lpstr>Effect of Noise on Parallel Lines</vt:lpstr>
      <vt:lpstr>Noise on Twisted-Pair Lines</vt:lpstr>
      <vt:lpstr>UTP and STP cables</vt:lpstr>
      <vt:lpstr>Shielded Twisted-Pair Cable</vt:lpstr>
      <vt:lpstr>Advantages :</vt:lpstr>
      <vt:lpstr>Unshielded Twisted-Pair Cable</vt:lpstr>
      <vt:lpstr>Coaxial Cable</vt:lpstr>
      <vt:lpstr>Two kinds of coaxial cable</vt:lpstr>
      <vt:lpstr>PowerPoint Presentation</vt:lpstr>
      <vt:lpstr>Categories of coaxial cables</vt:lpstr>
      <vt:lpstr>Optical Fiber Cable</vt:lpstr>
      <vt:lpstr>PowerPoint Presentation</vt:lpstr>
      <vt:lpstr>Optical fiber</vt:lpstr>
      <vt:lpstr>UNGUIDED MEDIA: WIRELESS</vt:lpstr>
      <vt:lpstr>Electromagnetic spectrum for wireless communication</vt:lpstr>
      <vt:lpstr>Propagation Methods</vt:lpstr>
      <vt:lpstr>Bands</vt:lpstr>
      <vt:lpstr>  Wireless transmission waves </vt:lpstr>
      <vt:lpstr>Note</vt:lpstr>
      <vt:lpstr>Omnidirectional antenna</vt:lpstr>
      <vt:lpstr>PowerPoint Presentation</vt:lpstr>
      <vt:lpstr>Unidirectional antennas</vt:lpstr>
      <vt:lpstr>Note</vt:lpstr>
      <vt:lpstr>Transmission Impairment</vt:lpstr>
      <vt:lpstr>Causes of impairment</vt:lpstr>
      <vt:lpstr>Attenuation</vt:lpstr>
      <vt:lpstr>Measurement of Attenuation</vt:lpstr>
      <vt:lpstr>Attenuation</vt:lpstr>
      <vt:lpstr>PowerPoint Presentation</vt:lpstr>
      <vt:lpstr>Distortion</vt:lpstr>
      <vt:lpstr>Distortion</vt:lpstr>
      <vt:lpstr>Noise</vt:lpstr>
      <vt:lpstr>  Noise </vt:lpstr>
      <vt:lpstr>Signal to Noise Ratio (SNR)</vt:lpstr>
      <vt:lpstr>Figure 3.30 Two cases of SNR: a high SNR and a low SNR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vinay bhardwaj</cp:lastModifiedBy>
  <cp:revision>1</cp:revision>
  <dcterms:created xsi:type="dcterms:W3CDTF">2022-08-30T09:03:51Z</dcterms:created>
  <dcterms:modified xsi:type="dcterms:W3CDTF">2022-09-01T03:36:08Z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2018-02-10T00:00:00Z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2022-08-30T00:00:00Z</vt:filetime>
  </property>
</Properties>
</file>